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84" r:id="rId22"/>
    <p:sldId id="276" r:id="rId23"/>
    <p:sldId id="277" r:id="rId24"/>
    <p:sldId id="283" r:id="rId25"/>
    <p:sldId id="278" r:id="rId26"/>
    <p:sldId id="279" r:id="rId27"/>
    <p:sldId id="280" r:id="rId28"/>
    <p:sldId id="281" r:id="rId29"/>
    <p:sldId id="282" r:id="rId3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284"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P01 封面</a:t>
            </a:r>
          </a:p>
          <a:p>
            <a:endParaRPr/>
          </a:p>
          <a:p>
            <a:r>
              <a:t>各位老师好，我们是一吴是处团队。本项目首先完成Qwen3.5-2B在PPU上的推理执行优化，再结合手机本地部署、GUI-VLA与脑电输入探索交互应用。</a:t>
            </a:r>
          </a:p>
          <a:p>
            <a:endParaRPr/>
          </a:p>
          <a:p>
            <a:r>
              <a:t>来源：</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P02 任务与基线：速度与答案质量</a:t>
            </a:r>
          </a:p>
          <a:p>
            <a:endParaRPr/>
          </a:p>
          <a:p>
            <a:r>
              <a:t>以真实MMBench图片问答说明优化对象。图片、视觉编码、文本主干与答案解析构成完整链路。正式平台为PPU-ZW810E、BF16、batch1，617个参数张量均驻留设备。吞吐、TTFT与答案质量共同评价推理。图中甜甜圈题为任务示例及其标准答案。</a:t>
            </a:r>
          </a:p>
          <a:p>
            <a:endParaRPr/>
          </a:p>
          <a:p>
            <a:r>
              <a:t>来源：</a:t>
            </a:r>
          </a:p>
          <a:p>
            <a:r>
              <a:t>D:\GitHub\seu-vlm-ppu-optimization\docs\work-summary\README.md</a:t>
            </a:r>
          </a:p>
          <a:p>
            <a:r>
              <a:t>C:\Users\ASUS\Downloads\Qwen35_融合版PPT规划_20261028\sources\dataset_examples\examples.json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P03 混合主干决定优化位置</a:t>
            </a:r>
          </a:p>
          <a:p>
            <a:endParaRPr/>
          </a:p>
          <a:p>
            <a:r>
              <a:t>主干由三层GDN和一层全注意力交替重复六组，共24层，各层参数独立。Mixer和SwiGLU都有残差连接。GDN以固定大小递推状态承载历史，全注意力KV cache随上下文增长。这些高频重复位置决定了后续优化对象。</a:t>
            </a:r>
          </a:p>
          <a:p>
            <a:endParaRPr/>
          </a:p>
          <a:p>
            <a:r>
              <a:t>来源：</a:t>
            </a:r>
          </a:p>
          <a:p>
            <a:r>
              <a:t>D:\GitHub\seu-vlm-ppu-optimization\models\Qwen3.5-2B\config.json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P04 性能画像：小算子启动与中间结果开销</a:t>
            </a:r>
          </a:p>
          <a:p>
            <a:endParaRPr/>
          </a:p>
          <a:p>
            <a:r>
              <a:t>16Token profile记录37293次内核启动、8832次临时张量分配。初期五类融合的Self CPU时间854.810到409.545ms，Self PPU为173.799到121.871ms。这里是profiler归因统计。瓶颈涉及设备计算与主机调度，因而同时考虑融合、中间结果组织和入口开销。</a:t>
            </a:r>
          </a:p>
          <a:p>
            <a:endParaRPr/>
          </a:p>
          <a:p>
            <a:r>
              <a:t>来源：</a:t>
            </a:r>
          </a:p>
          <a:p>
            <a:r>
              <a:t>D:\GitHub\seu-vlm-ppu-optimization\docs\work-summary\README.md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P05 量化与执行优化：结合平台条件选择路径</a:t>
            </a:r>
          </a:p>
          <a:p>
            <a:endParaRPr/>
          </a:p>
          <a:p>
            <a:r>
              <a:t>低比特权重需要格式、解量化内核与运行时协同。PPU调查A16W8/A16W4及官方weight-only依赖，当前PPU实测采用BF16融合与运行时优化。手机路线使用公开HQQ4bit、block64的MNN模型，展示不同平台的落地条件。</a:t>
            </a:r>
          </a:p>
          <a:p>
            <a:endParaRPr/>
          </a:p>
          <a:p>
            <a:r>
              <a:t>来源：</a:t>
            </a:r>
          </a:p>
          <a:p>
            <a:r>
              <a:t>D:\GitHub\seu-vlm-ppu-optimization\docs\work-summary\README.md</a:t>
            </a:r>
          </a:p>
          <a:p>
            <a:r>
              <a:t>C:\Users\ASUS\Downloads\zhi-ban-mobile-vla\evidence\device-test-2026-09-21.md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P06 GDN递推融合：状态更新与门控准备</a:t>
            </a:r>
          </a:p>
          <a:p>
            <a:endParaRPr/>
          </a:p>
          <a:p>
            <a:r>
              <a:t>GDN包含固定状态递推和门控准备。把衰减、预测修正、秩一更新与读出组织为紧凑路径。门控准备阶段launch16253到14363，Self CPU/PPU分别下降11.48%/5.35%；后两图以基线100归一化。</a:t>
            </a:r>
          </a:p>
          <a:p>
            <a:endParaRPr/>
          </a:p>
          <a:p>
            <a:r>
              <a:t>来源：</a:t>
            </a:r>
          </a:p>
          <a:p>
            <a:r>
              <a:t>D:\GitHub\seu-vlm-ppu-optimization\docs\work-summary\README.md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P07 因果卷积融合：窗口计算与状态推进</a:t>
            </a:r>
          </a:p>
          <a:p>
            <a:endParaRPr/>
          </a:p>
          <a:p>
            <a:r>
              <a:t>6144通道、宽度4的因果卷积，每通道只需历史3点和当前输入。联合完成卷积、SiLU与历史状态更新，随后按通道拆分q/k/v。重点是减少中间读写与重复调用。</a:t>
            </a:r>
          </a:p>
          <a:p>
            <a:endParaRPr/>
          </a:p>
          <a:p>
            <a:r>
              <a:t>来源：</a:t>
            </a:r>
          </a:p>
          <a:p>
            <a:r>
              <a:t>D:\GitHub\seu-vlm-ppu-optimization\docs\work-summary\README.md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P08 归一化与位置编码：减少高频数据往返</a:t>
            </a:r>
          </a:p>
          <a:p>
            <a:endParaRPr/>
          </a:p>
          <a:p>
            <a:r>
              <a:t>Residual+RMSNorm同时提供归一化输出和必要残差输出，归约使用FP32。另一融合点是全注意力Q/K RMSNorm和partial RoPE；head256维中64维旋转，V按原路径传递。16Token profile约减少720次独立add/launch。</a:t>
            </a:r>
          </a:p>
          <a:p>
            <a:endParaRPr/>
          </a:p>
          <a:p>
            <a:r>
              <a:t>来源：</a:t>
            </a:r>
          </a:p>
          <a:p>
            <a:r>
              <a:t>D:\GitHub\seu-vlm-ppu-optimization\docs\work-summary\README.md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P09 Packed MLP：权重预组织与单入口执行</a:t>
            </a:r>
          </a:p>
          <a:p>
            <a:endParaRPr/>
          </a:p>
          <a:p>
            <a:r>
              <a:t>Gate与Up共享输入并持久化打包，单C++入口组织三个设备阶段和scratch复用。中文4029样本平均吞吐109.993到122.445，英文107.276到118.964；成对中位加速1.1125/1.1093倍。两语言答案、全文和Token数在各4029样本上一致。</a:t>
            </a:r>
          </a:p>
          <a:p>
            <a:endParaRPr/>
          </a:p>
          <a:p>
            <a:r>
              <a:t>来源：</a:t>
            </a:r>
          </a:p>
          <a:p>
            <a:r>
              <a:t>D:\GitHub\seu-vlm-ppu-optimization\docs\work-summary\README.md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P10 投影与运行时：减少GEMV与接口往返</a:t>
            </a:r>
          </a:p>
          <a:p>
            <a:endParaRPr/>
          </a:p>
          <a:p>
            <a:r>
              <a:t>QKV和z沿原形状组织提交；b/a各输出16维，合并为32再拆回16+16，使GEMV每Token120到102。raw stream阶段双语全量成对中位增益1.0906/1.0901倍，保守b/a后续增益约1.00696/1.00697倍。各项对应其前一版本。</a:t>
            </a:r>
          </a:p>
          <a:p>
            <a:endParaRPr/>
          </a:p>
          <a:p>
            <a:r>
              <a:t>来源：</a:t>
            </a:r>
          </a:p>
          <a:p>
            <a:r>
              <a:t>D:\GitHub\seu-vlm-ppu-optimization\docs\work-summary\README.md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P11 Prefill：多行融合降低首响应延迟</a:t>
            </a:r>
          </a:p>
          <a:p>
            <a:endParaRPr/>
          </a:p>
          <a:p>
            <a:r>
              <a:t>Prefill处理多行图文输入，Decode逐Token更新。本次profile226行、2048维，A/B两组输入一致。多行融合降低CN20/EN20的平均TTFT，答案各20/20一致。中文成对中位吞吐变化-1.68%，体现首响应与生成吞吐的取舍。</a:t>
            </a:r>
          </a:p>
          <a:p>
            <a:endParaRPr/>
          </a:p>
          <a:p>
            <a:r>
              <a:t>来源：</a:t>
            </a:r>
          </a:p>
          <a:p>
            <a:r>
              <a:t>D:\GitHub\seu-vlm-ppu-optimization\results\ppu-first-token-prefill-row-fusions-20260901.json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P12 最终结果：解码吞吐达到2.715×</a:t>
            </a:r>
          </a:p>
          <a:p>
            <a:endParaRPr/>
          </a:p>
          <a:p>
            <a:r>
              <a:t>最终总体对照为公开CN20、四独立进程ABBA，每臂两次、两条预热样本。吞吐49.2195到133.623tok/s，为2.71484倍；TTFT120.059到114.313ms。四运行均17/20正确，解析答案20/20一致。四个运行点和顺序均来自结果JSON。</a:t>
            </a:r>
          </a:p>
          <a:p>
            <a:endParaRPr/>
          </a:p>
          <a:p>
            <a:r>
              <a:t>来源：</a:t>
            </a:r>
          </a:p>
          <a:p>
            <a:r>
              <a:t>D:\GitHub\seu-vlm-ppu-optimization\results\ppu-final-best-vs-eager-cn20-abba-20260901.json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P13 实验分析：整体性能与答案回归共同筛选</a:t>
            </a:r>
          </a:p>
          <a:p>
            <a:endParaRPr/>
          </a:p>
          <a:p>
            <a:r>
              <a:t>通过数值和内存检查、固定长度实验、成对比较、双语全量回归和独立进程总体对照筛选方案。acBLASLt局部更快但fixed128整体为0.9898倍；激进single-GEMV英文正确数少1，因此采用保守方案。版本选择以整体收益和答案质量共同决定。</a:t>
            </a:r>
          </a:p>
          <a:p>
            <a:endParaRPr/>
          </a:p>
          <a:p>
            <a:r>
              <a:t>来源：</a:t>
            </a:r>
          </a:p>
          <a:p>
            <a:r>
              <a:t>D:\GitHub\seu-vlm-ppu-optimization\docs\work-summary\README.md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P14 Android本地部署与三轮受控动作</a:t>
            </a:r>
          </a:p>
          <a:p>
            <a:endParaRPr/>
          </a:p>
          <a:p>
            <a:r>
              <a:t>手机本地采用Qwen3.5-2B-MNN、HQQ4bit、CPU四线程。真实界面证明模型识别与推理，短回答样例的输出长度和速度随原截图保留。受控四卡片三轮为4、1、3，推理6827/3925/5101ms，整体17.3秒。每步检查目标、边界、派发和状态变化。</a:t>
            </a:r>
          </a:p>
          <a:p>
            <a:endParaRPr/>
          </a:p>
          <a:p>
            <a:r>
              <a:t>来源：</a:t>
            </a:r>
          </a:p>
          <a:p>
            <a:r>
              <a:t>C:\Users\ASUS\Downloads\zhi-ban-mobile-vla\evidence\device-test-2026-09-21.md</a:t>
            </a:r>
          </a:p>
          <a:p>
            <a:r>
              <a:t>C:\Users\ASUS\Downloads\zhi-ban-mobile-vla\evidence\safe-continuous-visual-loop-2026-09-22.md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P15 领域评测：复杂GUI任务需要系统协作</a:t>
            </a:r>
          </a:p>
          <a:p>
            <a:endParaRPr/>
          </a:p>
          <a:p>
            <a:r>
              <a:t>参考材料提供153例领域自建评测，指定54例、泛化99例。图中五模型原始数据用于领域背景。我们的系统方法针对观察组织、按需快慢协同、执行核验和经验闭环展开；实际效果由后续具体任务记录展示。</a:t>
            </a:r>
          </a:p>
          <a:p>
            <a:endParaRPr/>
          </a:p>
          <a:p>
            <a:r>
              <a:t>来源：</a:t>
            </a:r>
          </a:p>
          <a:p>
            <a:r>
              <a:t>C:\Users\ASUS\Downloads\Qwen35_融合版PPT规划_20261029_v2\sources\benchmark_153.json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P16 GUI-VLA：观察、决策、执行与反馈</a:t>
            </a:r>
          </a:p>
          <a:p>
            <a:endParaRPr/>
          </a:p>
          <a:p>
            <a:r>
              <a:t>Platform提供可追溯观察和执行底座；Harness组织输入、查询和提案；Student持续执行并按需调用Jev；Data Lab管理会话、监督与轨迹。快模型选择合法候选，慢模型规划与核验，执行后用新观察判断效果。</a:t>
            </a:r>
          </a:p>
          <a:p>
            <a:endParaRPr/>
          </a:p>
          <a:p>
            <a:r>
              <a:t>来源：</a:t>
            </a:r>
          </a:p>
          <a:p>
            <a:r>
              <a:t>C:\Users\ASUS\Downloads\Qwen35_融合版PPT规划_20261029_v2\sources\Mobile_GUI_VLA_README_20261028.md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P17 Harness：多模态证据与持续上下文</a:t>
            </a:r>
          </a:p>
          <a:p>
            <a:endParaRPr/>
          </a:p>
          <a:p>
            <a:r>
              <a:t>截图和结构化控件互补，保存观察后按需read/find/expand/inspect。首包8192bytes是概览预算。最近六批完整交互、call-ID配对、历史回读与工作区帮助维持连续任务。界面和字段为机制示意，当前动作引用与历史记录分别管理。</a:t>
            </a:r>
          </a:p>
          <a:p>
            <a:endParaRPr/>
          </a:p>
          <a:p>
            <a:r>
              <a:t>来源：</a:t>
            </a:r>
          </a:p>
          <a:p>
            <a:r>
              <a:t>C:\Users\ASUS\Downloads\Qwen35_融合版PPT规划_20261029_v2\sources\Mobile_GUI_VLA_README_20261028.md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P18 任务相关首包：六页面覆盖与原生输入</a:t>
            </a:r>
          </a:p>
          <a:p>
            <a:endParaRPr/>
          </a:p>
          <a:p>
            <a:r>
              <a:t>六份原生来源回放验证v4首包覆盖与预算。高德单步使用qwen3.8-27b，185节点组织为8111bytes首包，一次API、一次原生SET_TEXT写入南京博物院，新观察确认变化。API2.633秒，整轮18.650秒；输入6578、输出58Token。此任务为搜索框输入。</a:t>
            </a:r>
          </a:p>
          <a:p>
            <a:endParaRPr/>
          </a:p>
          <a:p>
            <a:r>
              <a:t>来源：</a:t>
            </a:r>
          </a:p>
          <a:p>
            <a:r>
              <a:t>C:\Users\ASUS\Downloads\Qwen35_融合版PPT规划_20261029_v2\sources\Mobile_GUI_VLA_README_20261028.md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P19 成果展示：时钟长任务与快慢决策</a:t>
            </a:r>
          </a:p>
          <a:p>
            <a:endParaRPr/>
          </a:p>
          <a:p>
            <a:r>
              <a:t>演示时钟多页面任务：添加核对三座城市、秒表计次、返回核对。中央留空供插入848×1200原视频。历史旧Max+旧Flash任务决策P50为681.76ms，12/20低于800ms，20决策19动作、44.354秒。演示视频末帧慢模型平均输出46.2Token；视频与历史阶段统计分别标注。</a:t>
            </a:r>
          </a:p>
          <a:p>
            <a:endParaRPr/>
          </a:p>
          <a:p>
            <a:r>
              <a:t>来源：</a:t>
            </a:r>
          </a:p>
          <a:p>
            <a:r>
              <a:t>C:\Users\ASUS\Downloads\Qwen35_融合版PPT规划_20261029_v2\sources\Mobile_GUI_VLA_README_20261028.md</a:t>
            </a:r>
          </a:p>
          <a:p>
            <a:r>
              <a:t>C:\Users\ASUS\Downloads\Qwen35_融合版PPT规划_20261029_v2\video_metadata.json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P20 RSI：工具改进与后训练的数据闭环</a:t>
            </a:r>
          </a:p>
          <a:p>
            <a:endParaRPr/>
          </a:p>
          <a:p>
            <a:r>
              <a:t>按原RSI图说明短链与长链。Student执行和求助，Teacher协助，Worker组织和改进工具/Harness。真实轨迹进入Data Lab，经QA、研发、必要后训练和闭环评测，用于下一代Student与Agent Graph，再回到任务。</a:t>
            </a:r>
          </a:p>
          <a:p>
            <a:endParaRPr/>
          </a:p>
          <a:p>
            <a:r>
              <a:t>来源：</a:t>
            </a:r>
          </a:p>
          <a:p>
            <a:r>
              <a:t>C:\Users\ASUS\Downloads\Qwen35_融合版PPT规划_20261029_v2\sources\locked_originals\content_manifest.json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P21 脑电输入：从运动想象到交互候选</a:t>
            </a:r>
          </a:p>
          <a:p>
            <a:endParaRPr/>
          </a:p>
          <a:p>
            <a:r>
              <a:t>依托东南大学电子学院HIQC实验室与东南大学附属中大医院滕皋军院士团队的合作基础开展探索。合作背景由团队提供。这里展示PhysioNet公开数据离线回放；当前片段来自跨人测试，个人校准另采用run04/08/12分工。交互方案采用主动识别、候选选择、用户确认和统一执行接口。</a:t>
            </a:r>
          </a:p>
          <a:p>
            <a:endParaRPr/>
          </a:p>
          <a:p>
            <a:r>
              <a:t>来源：</a:t>
            </a:r>
          </a:p>
          <a:p>
            <a:r>
              <a:t>C:\Users\ASUS\Downloads\Qwen35_融合版PPT规划_20261029_v2\sources\Mobile_GUI_VLA_README_20261028.md</a:t>
            </a:r>
          </a:p>
          <a:p>
            <a:r>
              <a:t>E:\BCI\datasets\physionet-eegmmidb-1.0.0\training\mi_expanded_20260930_v2\results\previews\bci_replay_complete.png</a:t>
            </a:r>
          </a:p>
          <a:p>
            <a:r>
              <a:t>团队提供的合作背景：2026-10-29用户确认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P22 脑电结果：校准、覆盖与误触发</a:t>
            </a:r>
          </a:p>
          <a:p>
            <a:endParaRPr/>
          </a:p>
          <a:p>
            <a:r>
              <a:t>同组14人206试次的个人校准EEGNet平衡准确率57.6到63.4%。不同候选方法分别比较。独立门控采用全网微调方向模型，保守点输出17/206动作候选、14正确，另6/204休息误触发，因此全部23候选14正确。实验结果支持主动启动和候选确认的交互选择。</a:t>
            </a:r>
          </a:p>
          <a:p>
            <a:endParaRPr/>
          </a:p>
          <a:p>
            <a:r>
              <a:t>来源：</a:t>
            </a:r>
          </a:p>
          <a:p>
            <a:r>
              <a:t>E:\BCI\datasets\physionet-eegmmidb-1.0.0\training\mi_improvement_20261001_v4\README.md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A01 附录A：GUI-VLA Harness完整架构</a:t>
            </a:r>
          </a:p>
          <a:p>
            <a:endParaRPr/>
          </a:p>
          <a:p>
            <a:r>
              <a:t>GUI-VLA完整架构按原第19页保留。可沿上方运行链说明观察、Student、执行与Verifier，再解释历史、Jev及下方Data Lab与后训练路线。图中的方案模型为Qwen3.5-35B-A3B，单步诊断模型见案例页。</a:t>
            </a:r>
          </a:p>
          <a:p>
            <a:endParaRPr/>
          </a:p>
          <a:p>
            <a:r>
              <a:t>来源：</a:t>
            </a:r>
          </a:p>
          <a:p>
            <a:r>
              <a:t>C:\Users\ASUS\Downloads\Qwen35_融合版PPT规划_20261029_v2\sources\locked_originals\content_manifest.json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A02 附录B：Qwen3.5-2B完整计算架构</a:t>
            </a:r>
          </a:p>
          <a:p>
            <a:endParaRPr/>
          </a:p>
          <a:p>
            <a:r>
              <a:t>Qwen3.5-2B完整计算架构按原第20页保留。视觉编码、混合主干、残差、GDN门控与状态、全注意力Q/K处理与KV缓存、SwiGLU均可据图展开。橙框对应融合位置。</a:t>
            </a:r>
          </a:p>
          <a:p>
            <a:endParaRPr/>
          </a:p>
          <a:p>
            <a:r>
              <a:t>来源：</a:t>
            </a:r>
          </a:p>
          <a:p>
            <a:r>
              <a:t>C:\Users\ASUS\Downloads\Qwen35_融合版PPT规划_20261029_v2\sources\locked_originals\content_manifest.json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A03 附录C：PPU实验与方案筛选</a:t>
            </a:r>
          </a:p>
          <a:p>
            <a:endParaRPr/>
          </a:p>
          <a:p>
            <a:r>
              <a:t>本表各阶段相对其前一版本。4029规模的字段为中英文一致样本数；Prefill全文一致数为CN12、EN20。保守b/a正确数为CN3374、EN3214。最终CN20总体结果单独列出，Token数15/20一致，全文比较范围见原记录。</a:t>
            </a:r>
          </a:p>
          <a:p>
            <a:endParaRPr/>
          </a:p>
          <a:p>
            <a:r>
              <a:t>来源：</a:t>
            </a:r>
          </a:p>
          <a:p>
            <a:r>
              <a:t>D:\GitHub\seu-vlm-ppu-optimization\docs\work-summary\README.md</a:t>
            </a:r>
          </a:p>
          <a:p>
            <a:r>
              <a:t>D:\GitHub\seu-vlm-ppu-optimization\results\ppu-final-best-vs-eager-cn20-abba-20260901.json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A04 附录D：脑电协议与门控运行点</a:t>
            </a:r>
          </a:p>
          <a:p>
            <a:endParaRPr/>
          </a:p>
          <a:p>
            <a:r>
              <a:t>个人校准在同批run12试次上比较，给出按人区间。v4方向候选与门控运行点分别评估，门控方向为61.0%全网微调配置。保守全部候选14/23，宽松全部候选43/102；动作覆盖与休息误触发均保留分母。</a:t>
            </a:r>
          </a:p>
          <a:p>
            <a:endParaRPr/>
          </a:p>
          <a:p>
            <a:r>
              <a:t>来源：</a:t>
            </a:r>
          </a:p>
          <a:p>
            <a:r>
              <a:t>E:\BCI\datasets\physionet-eegmmidb-1.0.0\training\mi_improvement_20261001_v4\README.md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P23 结束页</a:t>
            </a:r>
          </a:p>
          <a:p>
            <a:endParaRPr/>
          </a:p>
          <a:p>
            <a:r>
              <a:t>让智能跨越障碍，让意愿抵达世界。感谢各位老师。</a:t>
            </a:r>
          </a:p>
          <a:p>
            <a:endParaRPr/>
          </a:p>
          <a:p>
            <a:r>
              <a:t>来源：</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FAE42F2-4ADB-4BE0-A030-A463AFBE9EAF}"/>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AE1C382F-F547-42C7-B861-633C1E69B729}"/>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A0299A68-661F-462A-B803-062226EA9A7F}"/>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C719FE7-D413-4A9E-91C1-71E2756119EE}"/>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5C6FD725-1946-4DD2-B34B-B0E6B8D686F5}"/>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27278D29-0078-4A25-AE01-61233B8F44F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2BE99CA1-FE36-4BD7-8A4B-D26A54451D7F}"/>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9BF35468-3D4A-49CD-9596-C9995DA36A71}"/>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C05C7ADB-80A0-444F-87D1-598C6DC35BF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D075DC2C-FA20-4A63-810B-C14D589CEDC8}"/>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6.xml"/><Relationship Id="rId5" Type="http://schemas.openxmlformats.org/officeDocument/2006/relationships/image" Target="../media/image18.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image" Target="../media/image25.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7.xml"/><Relationship Id="rId1" Type="http://schemas.openxmlformats.org/officeDocument/2006/relationships/slideLayout" Target="../slideLayouts/slideLayout6.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94E69FB-6D05-44C9-AFEA-AB406B4CDBA9}"/>
              </a:ext>
            </a:extLst>
          </p:cNvPr>
          <p:cNvPicPr>
            <a:picLocks noGrp="1" noRot="1" noChangeAspect="1" noMove="1" noResize="1" noEditPoints="1" noAdjustHandles="1" noChangeArrowheads="1" noChangeShapeType="1" noCrop="1"/>
          </p:cNvPicPr>
          <p:nvPr/>
        </p:nvPicPr>
        <p:blipFill>
          <a:blip r:embed="rId3"/>
          <a:srcRect t="27" b="27"/>
          <a:stretch>
            <a:fillRect/>
          </a:stretch>
        </p:blipFill>
        <p:spPr>
          <a:xfrm>
            <a:off x="0" y="0"/>
            <a:ext cx="12192000" cy="6858000"/>
          </a:xfrm>
          <a:prstGeom prst="rect">
            <a:avLst/>
          </a:prstGeom>
        </p:spPr>
      </p:pic>
      <p:pic>
        <p:nvPicPr>
          <p:cNvPr id="2" name="Picture 1">
            <a:extLst>
              <a:ext uri="{FF2B5EF4-FFF2-40B4-BE49-F238E27FC236}">
                <a16:creationId xmlns:a16="http://schemas.microsoft.com/office/drawing/2014/main" id="{72AD82EA-D083-474B-884A-DA437BFFD683}"/>
              </a:ext>
            </a:extLst>
          </p:cNvPr>
          <p:cNvPicPr>
            <a:picLocks noChangeAspect="1"/>
          </p:cNvPicPr>
          <p:nvPr/>
        </p:nvPicPr>
        <p:blipFill>
          <a:blip r:embed="rId4"/>
          <a:srcRect b="86574"/>
          <a:stretch/>
        </p:blipFill>
        <p:spPr>
          <a:xfrm>
            <a:off x="0" y="0"/>
            <a:ext cx="12192000" cy="920750"/>
          </a:xfrm>
          <a:prstGeom prst="rect">
            <a:avLst/>
          </a:prstGeom>
        </p:spPr>
      </p:pic>
    </p:spTree>
    <p:extLst>
      <p:ext uri="{BB962C8B-B14F-4D97-AF65-F5344CB8AC3E}">
        <p14:creationId xmlns:p14="http://schemas.microsoft.com/office/powerpoint/2010/main" val="10440800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1A06B28-BA12-4637-9EEA-4833D827B8E4}"/>
              </a:ext>
            </a:extLst>
          </p:cNvPr>
          <p:cNvPicPr>
            <a:picLocks noGrp="1" noRot="1" noChangeAspect="1" noMove="1" noResize="1" noEditPoints="1" noAdjustHandles="1" noChangeArrowheads="1" noChangeShapeType="1" noCrop="1"/>
          </p:cNvPicPr>
          <p:nvPr/>
        </p:nvPicPr>
        <p:blipFill>
          <a:blip r:embed="rId3"/>
          <a:srcRect t="27" b="27"/>
          <a:stretch>
            <a:fillRect/>
          </a:stretch>
        </p:blipFill>
        <p:spPr>
          <a:xfrm>
            <a:off x="0" y="0"/>
            <a:ext cx="12192000" cy="6858000"/>
          </a:xfrm>
          <a:prstGeom prst="rect">
            <a:avLst/>
          </a:prstGeom>
        </p:spPr>
      </p:pic>
      <p:pic>
        <p:nvPicPr>
          <p:cNvPr id="2" name="Picture 1">
            <a:extLst>
              <a:ext uri="{FF2B5EF4-FFF2-40B4-BE49-F238E27FC236}">
                <a16:creationId xmlns:a16="http://schemas.microsoft.com/office/drawing/2014/main" id="{F83B9EFE-D924-43E5-9EFA-F53E8425EE31}"/>
              </a:ext>
            </a:extLst>
          </p:cNvPr>
          <p:cNvPicPr>
            <a:picLocks noChangeAspect="1"/>
          </p:cNvPicPr>
          <p:nvPr/>
        </p:nvPicPr>
        <p:blipFill>
          <a:blip r:embed="rId4"/>
          <a:srcRect t="9428" b="9428"/>
          <a:stretch>
            <a:fillRect/>
          </a:stretch>
        </p:blipFill>
        <p:spPr>
          <a:xfrm>
            <a:off x="350010" y="1144215"/>
            <a:ext cx="2945914" cy="1792846"/>
          </a:xfrm>
          <a:prstGeom prst="roundRect">
            <a:avLst>
              <a:gd name="adj" fmla="val 5313"/>
            </a:avLst>
          </a:prstGeom>
        </p:spPr>
      </p:pic>
    </p:spTree>
    <p:extLst>
      <p:ext uri="{BB962C8B-B14F-4D97-AF65-F5344CB8AC3E}">
        <p14:creationId xmlns:p14="http://schemas.microsoft.com/office/powerpoint/2010/main" val="13578450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134520C-9D23-4D79-89A9-ECEB7B1B5532}"/>
              </a:ext>
            </a:extLst>
          </p:cNvPr>
          <p:cNvPicPr>
            <a:picLocks noGrp="1" noRot="1" noChangeAspect="1" noMove="1" noResize="1" noEditPoints="1" noAdjustHandles="1" noChangeArrowheads="1" noChangeShapeType="1" noCrop="1"/>
          </p:cNvPicPr>
          <p:nvPr/>
        </p:nvPicPr>
        <p:blipFill>
          <a:blip r:embed="rId3"/>
          <a:srcRect t="27" b="27"/>
          <a:stretch>
            <a:fillRect/>
          </a:stretch>
        </p:blipFill>
        <p:spPr>
          <a:xfrm>
            <a:off x="0" y="0"/>
            <a:ext cx="12192000" cy="6858000"/>
          </a:xfrm>
          <a:prstGeom prst="rect">
            <a:avLst/>
          </a:prstGeom>
        </p:spPr>
      </p:pic>
    </p:spTree>
    <p:extLst>
      <p:ext uri="{BB962C8B-B14F-4D97-AF65-F5344CB8AC3E}">
        <p14:creationId xmlns:p14="http://schemas.microsoft.com/office/powerpoint/2010/main" val="20865992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79A6942-2E21-4024-A860-387939C0FA3B}"/>
              </a:ext>
            </a:extLst>
          </p:cNvPr>
          <p:cNvPicPr>
            <a:picLocks noGrp="1" noRot="1" noChangeAspect="1" noMove="1" noResize="1" noEditPoints="1" noAdjustHandles="1" noChangeArrowheads="1" noChangeShapeType="1" noCrop="1"/>
          </p:cNvPicPr>
          <p:nvPr/>
        </p:nvPicPr>
        <p:blipFill>
          <a:blip r:embed="rId3"/>
          <a:srcRect l="27" r="27"/>
          <a:stretch>
            <a:fillRect/>
          </a:stretch>
        </p:blipFill>
        <p:spPr>
          <a:xfrm>
            <a:off x="0" y="0"/>
            <a:ext cx="12192000" cy="6858000"/>
          </a:xfrm>
          <a:prstGeom prst="rect">
            <a:avLst/>
          </a:prstGeom>
        </p:spPr>
      </p:pic>
    </p:spTree>
    <p:extLst>
      <p:ext uri="{BB962C8B-B14F-4D97-AF65-F5344CB8AC3E}">
        <p14:creationId xmlns:p14="http://schemas.microsoft.com/office/powerpoint/2010/main" val="969938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777917F-7132-429E-BD01-91D99CFB2DB1}"/>
              </a:ext>
            </a:extLst>
          </p:cNvPr>
          <p:cNvPicPr>
            <a:picLocks noGrp="1" noRot="1" noChangeAspect="1" noMove="1" noResize="1" noEditPoints="1" noAdjustHandles="1" noChangeArrowheads="1" noChangeShapeType="1" noCrop="1"/>
          </p:cNvPicPr>
          <p:nvPr/>
        </p:nvPicPr>
        <p:blipFill>
          <a:blip r:embed="rId3"/>
          <a:srcRect t="27" b="27"/>
          <a:stretch>
            <a:fillRect/>
          </a:stretch>
        </p:blipFill>
        <p:spPr>
          <a:xfrm>
            <a:off x="0" y="0"/>
            <a:ext cx="12192000" cy="6858000"/>
          </a:xfrm>
          <a:prstGeom prst="rect">
            <a:avLst/>
          </a:prstGeom>
        </p:spPr>
      </p:pic>
    </p:spTree>
    <p:extLst>
      <p:ext uri="{BB962C8B-B14F-4D97-AF65-F5344CB8AC3E}">
        <p14:creationId xmlns:p14="http://schemas.microsoft.com/office/powerpoint/2010/main" val="14771438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308C3BD-03DF-4551-802C-706F16736051}"/>
              </a:ext>
            </a:extLst>
          </p:cNvPr>
          <p:cNvPicPr>
            <a:picLocks noGrp="1" noRot="1" noChangeAspect="1" noMove="1" noResize="1" noEditPoints="1" noAdjustHandles="1" noChangeArrowheads="1" noChangeShapeType="1" noCrop="1"/>
          </p:cNvPicPr>
          <p:nvPr/>
        </p:nvPicPr>
        <p:blipFill>
          <a:blip r:embed="rId3"/>
          <a:srcRect t="27" b="27"/>
          <a:stretch>
            <a:fillRect/>
          </a:stretch>
        </p:blipFill>
        <p:spPr>
          <a:xfrm>
            <a:off x="0" y="0"/>
            <a:ext cx="12192000" cy="6858000"/>
          </a:xfrm>
          <a:prstGeom prst="rect">
            <a:avLst/>
          </a:prstGeom>
        </p:spPr>
      </p:pic>
    </p:spTree>
    <p:extLst>
      <p:ext uri="{BB962C8B-B14F-4D97-AF65-F5344CB8AC3E}">
        <p14:creationId xmlns:p14="http://schemas.microsoft.com/office/powerpoint/2010/main" val="17252762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CFD291A-1E59-4088-A14F-B69A711BACC2}"/>
              </a:ext>
            </a:extLst>
          </p:cNvPr>
          <p:cNvPicPr>
            <a:picLocks noGrp="1" noRot="1" noChangeAspect="1" noMove="1" noResize="1" noEditPoints="1" noAdjustHandles="1" noChangeArrowheads="1" noChangeShapeType="1" noCrop="1"/>
          </p:cNvPicPr>
          <p:nvPr/>
        </p:nvPicPr>
        <p:blipFill>
          <a:blip r:embed="rId3"/>
          <a:srcRect t="27" b="27"/>
          <a:stretch>
            <a:fillRect/>
          </a:stretch>
        </p:blipFill>
        <p:spPr>
          <a:xfrm>
            <a:off x="0" y="0"/>
            <a:ext cx="12192000" cy="6858000"/>
          </a:xfrm>
          <a:prstGeom prst="rect">
            <a:avLst/>
          </a:prstGeom>
        </p:spPr>
      </p:pic>
    </p:spTree>
    <p:extLst>
      <p:ext uri="{BB962C8B-B14F-4D97-AF65-F5344CB8AC3E}">
        <p14:creationId xmlns:p14="http://schemas.microsoft.com/office/powerpoint/2010/main" val="14475097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D737C4A-3D01-4928-BC67-E484F002A80C}"/>
              </a:ext>
            </a:extLst>
          </p:cNvPr>
          <p:cNvPicPr>
            <a:picLocks noGrp="1" noRot="1" noChangeAspect="1" noMove="1" noResize="1" noEditPoints="1" noAdjustHandles="1" noChangeArrowheads="1" noChangeShapeType="1" noCrop="1"/>
          </p:cNvPicPr>
          <p:nvPr/>
        </p:nvPicPr>
        <p:blipFill>
          <a:blip r:embed="rId3"/>
          <a:srcRect t="27" b="27"/>
          <a:stretch>
            <a:fillRect/>
          </a:stretch>
        </p:blipFill>
        <p:spPr>
          <a:xfrm>
            <a:off x="0" y="0"/>
            <a:ext cx="12192000" cy="6858000"/>
          </a:xfrm>
          <a:prstGeom prst="rect">
            <a:avLst/>
          </a:prstGeom>
        </p:spPr>
      </p:pic>
    </p:spTree>
    <p:extLst>
      <p:ext uri="{BB962C8B-B14F-4D97-AF65-F5344CB8AC3E}">
        <p14:creationId xmlns:p14="http://schemas.microsoft.com/office/powerpoint/2010/main" val="14877867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70C8EFD-0EE3-408A-8835-922CB4C8F642}"/>
              </a:ext>
            </a:extLst>
          </p:cNvPr>
          <p:cNvPicPr>
            <a:picLocks noGrp="1" noRot="1" noChangeAspect="1" noMove="1" noResize="1" noEditPoints="1" noAdjustHandles="1" noChangeArrowheads="1" noChangeShapeType="1" noCrop="1"/>
          </p:cNvPicPr>
          <p:nvPr/>
        </p:nvPicPr>
        <p:blipFill>
          <a:blip r:embed="rId3"/>
          <a:srcRect t="27" b="27"/>
          <a:stretch>
            <a:fillRect/>
          </a:stretch>
        </p:blipFill>
        <p:spPr>
          <a:xfrm>
            <a:off x="0" y="0"/>
            <a:ext cx="12192000" cy="6858000"/>
          </a:xfrm>
          <a:prstGeom prst="rect">
            <a:avLst/>
          </a:prstGeom>
        </p:spPr>
      </p:pic>
    </p:spTree>
    <p:extLst>
      <p:ext uri="{BB962C8B-B14F-4D97-AF65-F5344CB8AC3E}">
        <p14:creationId xmlns:p14="http://schemas.microsoft.com/office/powerpoint/2010/main" val="2049845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49D3051-E713-4912-922E-C802ECBDE983}"/>
              </a:ext>
            </a:extLst>
          </p:cNvPr>
          <p:cNvPicPr>
            <a:picLocks noGrp="1" noRot="1" noChangeAspect="1" noMove="1" noResize="1" noEditPoints="1" noAdjustHandles="1" noChangeArrowheads="1" noChangeShapeType="1" noCrop="1"/>
          </p:cNvPicPr>
          <p:nvPr/>
        </p:nvPicPr>
        <p:blipFill>
          <a:blip r:embed="rId3"/>
          <a:srcRect t="27" b="27"/>
          <a:stretch>
            <a:fillRect/>
          </a:stretch>
        </p:blipFill>
        <p:spPr>
          <a:xfrm>
            <a:off x="0" y="0"/>
            <a:ext cx="12192000" cy="6858000"/>
          </a:xfrm>
          <a:prstGeom prst="rect">
            <a:avLst/>
          </a:prstGeom>
        </p:spPr>
      </p:pic>
    </p:spTree>
    <p:extLst>
      <p:ext uri="{BB962C8B-B14F-4D97-AF65-F5344CB8AC3E}">
        <p14:creationId xmlns:p14="http://schemas.microsoft.com/office/powerpoint/2010/main" val="14196559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2CE8343-BA1C-4E2A-8FEC-7840E8A38306}"/>
              </a:ext>
            </a:extLst>
          </p:cNvPr>
          <p:cNvPicPr>
            <a:picLocks noGrp="1" noRot="1" noChangeAspect="1" noMove="1" noResize="1" noEditPoints="1" noAdjustHandles="1" noChangeArrowheads="1" noChangeShapeType="1" noCrop="1"/>
          </p:cNvPicPr>
          <p:nvPr/>
        </p:nvPicPr>
        <p:blipFill>
          <a:blip r:embed="rId3"/>
          <a:srcRect t="27" b="27"/>
          <a:stretch>
            <a:fillRect/>
          </a:stretch>
        </p:blipFill>
        <p:spPr>
          <a:xfrm>
            <a:off x="0" y="0"/>
            <a:ext cx="12192000" cy="6858000"/>
          </a:xfrm>
          <a:prstGeom prst="rect">
            <a:avLst/>
          </a:prstGeom>
        </p:spPr>
      </p:pic>
    </p:spTree>
    <p:extLst>
      <p:ext uri="{BB962C8B-B14F-4D97-AF65-F5344CB8AC3E}">
        <p14:creationId xmlns:p14="http://schemas.microsoft.com/office/powerpoint/2010/main" val="9806542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A6D6A23-AFCD-4170-9D2A-9BF1A4333E5F}"/>
              </a:ext>
            </a:extLst>
          </p:cNvPr>
          <p:cNvPicPr>
            <a:picLocks noGrp="1" noRot="1" noChangeAspect="1" noMove="1" noResize="1" noEditPoints="1" noAdjustHandles="1" noChangeArrowheads="1" noChangeShapeType="1" noCrop="1"/>
          </p:cNvPicPr>
          <p:nvPr/>
        </p:nvPicPr>
        <p:blipFill>
          <a:blip r:embed="rId3"/>
          <a:srcRect t="27" b="27"/>
          <a:stretch>
            <a:fillRect/>
          </a:stretch>
        </p:blipFill>
        <p:spPr>
          <a:xfrm>
            <a:off x="0" y="0"/>
            <a:ext cx="12192000" cy="6858000"/>
          </a:xfrm>
          <a:prstGeom prst="rect">
            <a:avLst/>
          </a:prstGeom>
        </p:spPr>
      </p:pic>
    </p:spTree>
    <p:extLst>
      <p:ext uri="{BB962C8B-B14F-4D97-AF65-F5344CB8AC3E}">
        <p14:creationId xmlns:p14="http://schemas.microsoft.com/office/powerpoint/2010/main" val="2021142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9BF7A66-1895-43DC-A597-B1B3CA99F554}"/>
              </a:ext>
            </a:extLst>
          </p:cNvPr>
          <p:cNvPicPr>
            <a:picLocks noGrp="1" noRot="1" noChangeAspect="1" noMove="1" noResize="1" noEditPoints="1" noAdjustHandles="1" noChangeArrowheads="1" noChangeShapeType="1" noCrop="1"/>
          </p:cNvPicPr>
          <p:nvPr/>
        </p:nvPicPr>
        <p:blipFill>
          <a:blip r:embed="rId3"/>
          <a:srcRect t="27" b="27"/>
          <a:stretch>
            <a:fillRect/>
          </a:stretch>
        </p:blipFill>
        <p:spPr>
          <a:xfrm>
            <a:off x="0" y="0"/>
            <a:ext cx="12192000" cy="6858000"/>
          </a:xfrm>
          <a:prstGeom prst="rect">
            <a:avLst/>
          </a:prstGeom>
        </p:spPr>
      </p:pic>
    </p:spTree>
    <p:extLst>
      <p:ext uri="{BB962C8B-B14F-4D97-AF65-F5344CB8AC3E}">
        <p14:creationId xmlns:p14="http://schemas.microsoft.com/office/powerpoint/2010/main" val="2420752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B574762-9F39-4AEB-8362-8C455519FB17}"/>
              </a:ext>
            </a:extLst>
          </p:cNvPr>
          <p:cNvPicPr>
            <a:picLocks noChangeAspect="1"/>
          </p:cNvPicPr>
          <p:nvPr/>
        </p:nvPicPr>
        <p:blipFill>
          <a:blip r:embed="rId3"/>
          <a:srcRect t="27" b="27"/>
          <a:stretch>
            <a:fillRect/>
          </a:stretch>
        </p:blipFill>
        <p:spPr>
          <a:xfrm>
            <a:off x="0" y="0"/>
            <a:ext cx="12192000" cy="6858000"/>
          </a:xfrm>
          <a:prstGeom prst="rect">
            <a:avLst/>
          </a:prstGeom>
        </p:spPr>
      </p:pic>
      <p:pic>
        <p:nvPicPr>
          <p:cNvPr id="2" name="Picture 1">
            <a:extLst>
              <a:ext uri="{FF2B5EF4-FFF2-40B4-BE49-F238E27FC236}">
                <a16:creationId xmlns:a16="http://schemas.microsoft.com/office/drawing/2014/main" id="{A0A2A16D-E5DA-4B03-88AD-307CE9EA647D}"/>
              </a:ext>
            </a:extLst>
          </p:cNvPr>
          <p:cNvPicPr>
            <a:picLocks noChangeAspect="1"/>
          </p:cNvPicPr>
          <p:nvPr/>
        </p:nvPicPr>
        <p:blipFill>
          <a:blip r:embed="rId4"/>
          <a:srcRect b="24600"/>
          <a:stretch/>
        </p:blipFill>
        <p:spPr>
          <a:xfrm>
            <a:off x="3718852" y="1676238"/>
            <a:ext cx="1954220" cy="3199428"/>
          </a:xfrm>
          <a:prstGeom prst="roundRect">
            <a:avLst>
              <a:gd name="adj" fmla="val 4874"/>
            </a:avLst>
          </a:prstGeom>
        </p:spPr>
      </p:pic>
      <p:pic>
        <p:nvPicPr>
          <p:cNvPr id="3" name="Picture 2">
            <a:extLst>
              <a:ext uri="{FF2B5EF4-FFF2-40B4-BE49-F238E27FC236}">
                <a16:creationId xmlns:a16="http://schemas.microsoft.com/office/drawing/2014/main" id="{29D7880C-06B5-41AC-9872-80F61E7C1C3E}"/>
              </a:ext>
            </a:extLst>
          </p:cNvPr>
          <p:cNvPicPr>
            <a:picLocks noGrp="1" noRot="1" noChangeAspect="1" noMove="1" noResize="1" noEditPoints="1" noAdjustHandles="1" noChangeArrowheads="1" noChangeShapeType="1" noCrop="1"/>
          </p:cNvPicPr>
          <p:nvPr/>
        </p:nvPicPr>
        <p:blipFill>
          <a:blip r:embed="rId5"/>
          <a:srcRect t="25000"/>
          <a:stretch/>
        </p:blipFill>
        <p:spPr>
          <a:xfrm>
            <a:off x="5833493" y="1676238"/>
            <a:ext cx="1946928" cy="3199428"/>
          </a:xfrm>
          <a:prstGeom prst="roundRect">
            <a:avLst>
              <a:gd name="adj" fmla="val 4892"/>
            </a:avLst>
          </a:prstGeom>
        </p:spPr>
      </p:pic>
    </p:spTree>
    <p:extLst>
      <p:ext uri="{BB962C8B-B14F-4D97-AF65-F5344CB8AC3E}">
        <p14:creationId xmlns:p14="http://schemas.microsoft.com/office/powerpoint/2010/main" val="18760529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6AC9CC7-AF4F-4E74-B8B6-62C81105922B}"/>
              </a:ext>
            </a:extLst>
          </p:cNvPr>
          <p:cNvPicPr>
            <a:picLocks noGrp="1" noRot="1" noChangeAspect="1" noMove="1" noResize="1" noEditPoints="1" noAdjustHandles="1" noChangeArrowheads="1" noChangeShapeType="1" noCrop="1"/>
          </p:cNvPicPr>
          <p:nvPr/>
        </p:nvPicPr>
        <p:blipFill>
          <a:blip r:embed="rId3"/>
          <a:srcRect t="27" b="27"/>
          <a:stretch>
            <a:fillRect/>
          </a:stretch>
        </p:blipFill>
        <p:spPr>
          <a:xfrm>
            <a:off x="0" y="0"/>
            <a:ext cx="12192000" cy="6858000"/>
          </a:xfrm>
          <a:prstGeom prst="rect">
            <a:avLst/>
          </a:prstGeom>
        </p:spPr>
      </p:pic>
    </p:spTree>
    <p:extLst>
      <p:ext uri="{BB962C8B-B14F-4D97-AF65-F5344CB8AC3E}">
        <p14:creationId xmlns:p14="http://schemas.microsoft.com/office/powerpoint/2010/main" val="2390197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4868046-EDD7-46B2-A5C1-DB23CD27859C}"/>
              </a:ext>
            </a:extLst>
          </p:cNvPr>
          <p:cNvPicPr>
            <a:picLocks noGrp="1" noRot="1" noChangeAspect="1" noMove="1" noResize="1" noEditPoints="1" noAdjustHandles="1" noChangeArrowheads="1" noChangeShapeType="1" noCrop="1"/>
          </p:cNvPicPr>
          <p:nvPr/>
        </p:nvPicPr>
        <p:blipFill>
          <a:blip r:embed="rId3"/>
          <a:srcRect t="27" b="27"/>
          <a:stretch>
            <a:fillRect/>
          </a:stretch>
        </p:blipFill>
        <p:spPr>
          <a:xfrm>
            <a:off x="0" y="0"/>
            <a:ext cx="12192000" cy="6858000"/>
          </a:xfrm>
          <a:prstGeom prst="rect">
            <a:avLst/>
          </a:prstGeom>
        </p:spPr>
      </p:pic>
    </p:spTree>
    <p:extLst>
      <p:ext uri="{BB962C8B-B14F-4D97-AF65-F5344CB8AC3E}">
        <p14:creationId xmlns:p14="http://schemas.microsoft.com/office/powerpoint/2010/main" val="7144301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26" name="Picture 2" descr="Harness完整交互闭环">
            <a:extLst>
              <a:ext uri="{FF2B5EF4-FFF2-40B4-BE49-F238E27FC236}">
                <a16:creationId xmlns:a16="http://schemas.microsoft.com/office/drawing/2014/main" id="{C57CBDF1-50D1-583E-A211-00B0E894ECE4}"/>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a:stretch>
            <a:fillRect/>
          </a:stretch>
        </p:blipFill>
        <p:spPr bwMode="auto">
          <a:xfrm>
            <a:off x="3175" y="0"/>
            <a:ext cx="1218565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94479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61B61F0-22EE-5870-F0EC-66ABE969374E}"/>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4146300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CED2C7A-FD86-4AA8-8F9E-995E29F521D6}"/>
              </a:ext>
            </a:extLst>
          </p:cNvPr>
          <p:cNvPicPr>
            <a:picLocks noGrp="1" noRot="1" noChangeAspect="1" noMove="1" noResize="1" noEditPoints="1" noAdjustHandles="1" noChangeArrowheads="1" noChangeShapeType="1" noCrop="1"/>
          </p:cNvPicPr>
          <p:nvPr/>
        </p:nvPicPr>
        <p:blipFill>
          <a:blip r:embed="rId5"/>
          <a:srcRect l="27" r="27"/>
          <a:stretch>
            <a:fillRect/>
          </a:stretch>
        </p:blipFill>
        <p:spPr>
          <a:xfrm>
            <a:off x="0" y="0"/>
            <a:ext cx="12192000" cy="6858000"/>
          </a:xfrm>
          <a:prstGeom prst="rect">
            <a:avLst/>
          </a:prstGeom>
        </p:spPr>
      </p:pic>
      <p:pic>
        <p:nvPicPr>
          <p:cNvPr id="4" name="Picture 3">
            <a:extLst>
              <a:ext uri="{FF2B5EF4-FFF2-40B4-BE49-F238E27FC236}">
                <a16:creationId xmlns:a16="http://schemas.microsoft.com/office/drawing/2014/main" id="{29906E7C-669D-B28D-2720-FF2376F019BF}"/>
              </a:ext>
            </a:extLst>
          </p:cNvPr>
          <p:cNvPicPr>
            <a:picLocks noGrp="1" noRot="1" noChangeAspect="1" noMove="1" noResize="1" noEditPoints="1" noAdjustHandles="1" noChangeArrowheads="1" noChangeShapeType="1" noCrop="1"/>
          </p:cNvPicPr>
          <p:nvPr/>
        </p:nvPicPr>
        <p:blipFill>
          <a:blip r:embed="rId6"/>
          <a:stretch>
            <a:fillRect/>
          </a:stretch>
        </p:blipFill>
        <p:spPr>
          <a:xfrm>
            <a:off x="4507498" y="893049"/>
            <a:ext cx="3111528" cy="4857238"/>
          </a:xfrm>
          <a:prstGeom prst="rect">
            <a:avLst/>
          </a:prstGeom>
        </p:spPr>
      </p:pic>
      <p:pic>
        <p:nvPicPr>
          <p:cNvPr id="3" name="demo-concise-metrics-no-timing-note2">
            <a:hlinkClick r:id="" action="ppaction://media"/>
            <a:extLst>
              <a:ext uri="{FF2B5EF4-FFF2-40B4-BE49-F238E27FC236}">
                <a16:creationId xmlns:a16="http://schemas.microsoft.com/office/drawing/2014/main" id="{45BE420C-DAAE-878C-0235-BC088C949C5E}"/>
              </a:ext>
            </a:extLst>
          </p:cNvPr>
          <p:cNvPicPr>
            <a:picLocks noGrp="1" noRot="1" noChangeAspect="1" noMove="1" noResize="1" noEditPoints="1" noAdjustHandles="1" noChangeArrowheads="1" noChangeShapeType="1" noCrop="1"/>
          </p:cNvPicPr>
          <p:nvPr>
            <a:videoFile r:link="rId2"/>
            <p:extLst>
              <p:ext uri="{DAA4B4D4-6D71-4841-9C94-3DE7FCFB9230}">
                <p14:media xmlns:p14="http://schemas.microsoft.com/office/powerpoint/2010/main" r:embed="rId1"/>
              </p:ext>
            </p:extLst>
          </p:nvPr>
        </p:nvPicPr>
        <p:blipFill>
          <a:blip r:embed="rId7"/>
          <a:stretch>
            <a:fillRect/>
          </a:stretch>
        </p:blipFill>
        <p:spPr>
          <a:xfrm>
            <a:off x="4507498" y="1503607"/>
            <a:ext cx="2838063" cy="4016127"/>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04825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628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3"/>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3"/>
                                        </p:tgtEl>
                                      </p:cBhvr>
                                    </p:cmd>
                                  </p:childTnLst>
                                </p:cTn>
                              </p:par>
                            </p:childTnLst>
                          </p:cTn>
                        </p:par>
                      </p:childTnLst>
                    </p:cTn>
                  </p:par>
                </p:childTnLst>
              </p:cTn>
              <p:nextCondLst>
                <p:cond evt="onClick" delay="0">
                  <p:tgtEl>
                    <p:spTgt spid="3"/>
                  </p:tgtEl>
                </p:cond>
              </p:nextCondLst>
            </p:seq>
            <p:video>
              <p:cMediaNode vol="80000" mute="1">
                <p:cTn id="12" fill="hold" display="0">
                  <p:stCondLst>
                    <p:cond delay="indefinite"/>
                  </p:stCondLst>
                </p:cTn>
                <p:tgtEl>
                  <p:spTgt spid="3"/>
                </p:tgtEl>
              </p:cMediaNode>
            </p:vide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6AD4BC3-8AF2-48A3-9F73-8E43FA325A45}"/>
              </a:ext>
            </a:extLst>
          </p:cNvPr>
          <p:cNvPicPr>
            <a:picLocks noGrp="1" noRot="1" noChangeAspect="1" noMove="1" noResize="1" noEditPoints="1" noAdjustHandles="1" noChangeArrowheads="1" noChangeShapeType="1" noCrop="1"/>
          </p:cNvPicPr>
          <p:nvPr/>
        </p:nvPicPr>
        <p:blipFill>
          <a:blip r:embed="rId3"/>
          <a:srcRect t="27" b="27"/>
          <a:stretch>
            <a:fillRect/>
          </a:stretch>
        </p:blipFill>
        <p:spPr>
          <a:xfrm>
            <a:off x="0" y="0"/>
            <a:ext cx="12192000" cy="6858000"/>
          </a:xfrm>
          <a:prstGeom prst="rect">
            <a:avLst/>
          </a:prstGeom>
        </p:spPr>
      </p:pic>
    </p:spTree>
    <p:extLst>
      <p:ext uri="{BB962C8B-B14F-4D97-AF65-F5344CB8AC3E}">
        <p14:creationId xmlns:p14="http://schemas.microsoft.com/office/powerpoint/2010/main" val="552527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DA4B7AF-67F7-F0D1-ACDB-ADA3CA389F71}"/>
              </a:ext>
            </a:extLst>
          </p:cNvPr>
          <p:cNvPicPr>
            <a:picLocks noGrp="1" noRot="1" noChangeAspect="1" noMove="1" noResize="1" noEditPoints="1" noAdjustHandles="1" noChangeArrowheads="1" noChangeShapeType="1" noCrop="1"/>
          </p:cNvPicPr>
          <p:nvPr/>
        </p:nvPicPr>
        <p:blipFill>
          <a:blip r:embed="rId2"/>
          <a:stretch>
            <a:fillRect/>
          </a:stretch>
        </p:blipFill>
        <p:spPr>
          <a:xfrm>
            <a:off x="3239" y="0"/>
            <a:ext cx="12185522" cy="6858000"/>
          </a:xfrm>
          <a:prstGeom prst="rect">
            <a:avLst/>
          </a:prstGeom>
        </p:spPr>
      </p:pic>
    </p:spTree>
    <p:extLst>
      <p:ext uri="{BB962C8B-B14F-4D97-AF65-F5344CB8AC3E}">
        <p14:creationId xmlns:p14="http://schemas.microsoft.com/office/powerpoint/2010/main" val="33831495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303AEF1-35CF-40BD-8FDB-983B6D36C075}"/>
              </a:ext>
            </a:extLst>
          </p:cNvPr>
          <p:cNvPicPr>
            <a:picLocks noGrp="1" noRot="1" noChangeAspect="1" noMove="1" noResize="1" noEditPoints="1" noAdjustHandles="1" noChangeArrowheads="1" noChangeShapeType="1" noCrop="1"/>
          </p:cNvPicPr>
          <p:nvPr/>
        </p:nvPicPr>
        <p:blipFill>
          <a:blip r:embed="rId3"/>
          <a:srcRect t="27" b="27"/>
          <a:stretch>
            <a:fillRect/>
          </a:stretch>
        </p:blipFill>
        <p:spPr>
          <a:xfrm>
            <a:off x="0" y="0"/>
            <a:ext cx="12192000" cy="6858000"/>
          </a:xfrm>
          <a:prstGeom prst="rect">
            <a:avLst/>
          </a:prstGeom>
        </p:spPr>
      </p:pic>
      <p:pic>
        <p:nvPicPr>
          <p:cNvPr id="2" name="Picture 1">
            <a:extLst>
              <a:ext uri="{FF2B5EF4-FFF2-40B4-BE49-F238E27FC236}">
                <a16:creationId xmlns:a16="http://schemas.microsoft.com/office/drawing/2014/main" id="{7D53754C-9293-4CE4-8C92-260229B2EFD9}"/>
              </a:ext>
            </a:extLst>
          </p:cNvPr>
          <p:cNvPicPr>
            <a:picLocks noGrp="1" noRot="1" noChangeAspect="1" noMove="1" noResize="1" noEditPoints="1" noAdjustHandles="1" noChangeArrowheads="1" noChangeShapeType="1" noCrop="1"/>
          </p:cNvPicPr>
          <p:nvPr/>
        </p:nvPicPr>
        <p:blipFill>
          <a:blip r:embed="rId4"/>
          <a:srcRect l="1467" t="51831" r="1467"/>
          <a:stretch/>
        </p:blipFill>
        <p:spPr>
          <a:xfrm>
            <a:off x="262507" y="2681981"/>
            <a:ext cx="7175196" cy="2273853"/>
          </a:xfrm>
          <a:prstGeom prst="rect">
            <a:avLst/>
          </a:prstGeom>
        </p:spPr>
      </p:pic>
    </p:spTree>
    <p:extLst>
      <p:ext uri="{BB962C8B-B14F-4D97-AF65-F5344CB8AC3E}">
        <p14:creationId xmlns:p14="http://schemas.microsoft.com/office/powerpoint/2010/main" val="4776558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33097F7-3EDA-4A29-B55E-2900958A84D5}"/>
              </a:ext>
            </a:extLst>
          </p:cNvPr>
          <p:cNvPicPr>
            <a:picLocks noGrp="1" noRot="1" noChangeAspect="1" noMove="1" noResize="1" noEditPoints="1" noAdjustHandles="1" noChangeArrowheads="1" noChangeShapeType="1" noCrop="1"/>
          </p:cNvPicPr>
          <p:nvPr/>
        </p:nvPicPr>
        <p:blipFill>
          <a:blip r:embed="rId3"/>
          <a:srcRect t="27" b="27"/>
          <a:stretch>
            <a:fillRect/>
          </a:stretch>
        </p:blipFill>
        <p:spPr>
          <a:xfrm>
            <a:off x="0" y="0"/>
            <a:ext cx="12192000" cy="6858000"/>
          </a:xfrm>
          <a:prstGeom prst="rect">
            <a:avLst/>
          </a:prstGeom>
        </p:spPr>
      </p:pic>
    </p:spTree>
    <p:extLst>
      <p:ext uri="{BB962C8B-B14F-4D97-AF65-F5344CB8AC3E}">
        <p14:creationId xmlns:p14="http://schemas.microsoft.com/office/powerpoint/2010/main" val="8742825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CF003F4-4E57-C02B-5486-31359C97F707}"/>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6096" y="0"/>
            <a:ext cx="12179808" cy="6858000"/>
          </a:xfrm>
          <a:prstGeom prst="rect">
            <a:avLst/>
          </a:prstGeom>
        </p:spPr>
      </p:pic>
    </p:spTree>
    <p:extLst>
      <p:ext uri="{BB962C8B-B14F-4D97-AF65-F5344CB8AC3E}">
        <p14:creationId xmlns:p14="http://schemas.microsoft.com/office/powerpoint/2010/main" val="34931440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1">
  <p:cSld>
    <p:bg>
      <p:bgPr>
        <a:solidFill>
          <a:srgbClr val="FFFFF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34A52AE-A819-427C-BE93-1CEBFE2235E4}"/>
              </a:ext>
            </a:extLst>
          </p:cNvPr>
          <p:cNvPicPr>
            <a:picLocks noGrp="1" noRot="1" noChangeAspect="1" noMove="1" noResize="1" noEditPoints="1" noAdjustHandles="1" noChangeArrowheads="1" noChangeShapeType="1" noCrop="1"/>
          </p:cNvPicPr>
          <p:nvPr/>
        </p:nvPicPr>
        <p:blipFill>
          <a:blip r:embed="rId3"/>
          <a:srcRect t="27" b="27"/>
          <a:stretch>
            <a:fillRect/>
          </a:stretch>
        </p:blipFill>
        <p:spPr>
          <a:xfrm>
            <a:off x="0" y="0"/>
            <a:ext cx="12192000" cy="6858000"/>
          </a:xfrm>
          <a:prstGeom prst="rect">
            <a:avLst/>
          </a:prstGeom>
        </p:spPr>
      </p:pic>
    </p:spTree>
    <p:extLst>
      <p:ext uri="{BB962C8B-B14F-4D97-AF65-F5344CB8AC3E}">
        <p14:creationId xmlns:p14="http://schemas.microsoft.com/office/powerpoint/2010/main" val="13278376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1">
  <p:cSld>
    <p:bg>
      <p:bgPr>
        <a:solidFill>
          <a:srgbClr val="FFFFF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F961455-D770-4807-8258-80407DC89282}"/>
              </a:ext>
            </a:extLst>
          </p:cNvPr>
          <p:cNvPicPr>
            <a:picLocks noGrp="1" noRot="1" noChangeAspect="1" noMove="1" noResize="1" noEditPoints="1" noAdjustHandles="1" noChangeArrowheads="1" noChangeShapeType="1" noCrop="1"/>
          </p:cNvPicPr>
          <p:nvPr/>
        </p:nvPicPr>
        <p:blipFill>
          <a:blip r:embed="rId3"/>
          <a:srcRect t="27" b="27"/>
          <a:stretch>
            <a:fillRect/>
          </a:stretch>
        </p:blipFill>
        <p:spPr>
          <a:xfrm>
            <a:off x="0" y="0"/>
            <a:ext cx="12192000" cy="6858000"/>
          </a:xfrm>
          <a:prstGeom prst="rect">
            <a:avLst/>
          </a:prstGeom>
        </p:spPr>
      </p:pic>
    </p:spTree>
    <p:extLst>
      <p:ext uri="{BB962C8B-B14F-4D97-AF65-F5344CB8AC3E}">
        <p14:creationId xmlns:p14="http://schemas.microsoft.com/office/powerpoint/2010/main" val="8695102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1">
  <p:cSld>
    <p:bg>
      <p:bgPr>
        <a:solidFill>
          <a:srgbClr val="FFFFF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E8501D3-39B8-4322-BBD6-3AA571F21F3E}"/>
              </a:ext>
            </a:extLst>
          </p:cNvPr>
          <p:cNvPicPr>
            <a:picLocks noGrp="1" noRot="1" noChangeAspect="1" noMove="1" noResize="1" noEditPoints="1" noAdjustHandles="1" noChangeArrowheads="1" noChangeShapeType="1" noCrop="1"/>
          </p:cNvPicPr>
          <p:nvPr/>
        </p:nvPicPr>
        <p:blipFill>
          <a:blip r:embed="rId3"/>
          <a:srcRect t="27" b="27"/>
          <a:stretch>
            <a:fillRect/>
          </a:stretch>
        </p:blipFill>
        <p:spPr>
          <a:xfrm>
            <a:off x="0" y="0"/>
            <a:ext cx="12192000" cy="6858000"/>
          </a:xfrm>
          <a:prstGeom prst="rect">
            <a:avLst/>
          </a:prstGeom>
        </p:spPr>
      </p:pic>
    </p:spTree>
    <p:extLst>
      <p:ext uri="{BB962C8B-B14F-4D97-AF65-F5344CB8AC3E}">
        <p14:creationId xmlns:p14="http://schemas.microsoft.com/office/powerpoint/2010/main" val="9077418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1">
  <p:cSld>
    <p:bg>
      <p:bgPr>
        <a:solidFill>
          <a:srgbClr val="FFFFF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29ECCFE-BB32-46CC-BAFE-5C61C8429C7E}"/>
              </a:ext>
            </a:extLst>
          </p:cNvPr>
          <p:cNvPicPr>
            <a:picLocks noGrp="1" noRot="1" noChangeAspect="1" noMove="1" noResize="1" noEditPoints="1" noAdjustHandles="1" noChangeArrowheads="1" noChangeShapeType="1" noCrop="1"/>
          </p:cNvPicPr>
          <p:nvPr/>
        </p:nvPicPr>
        <p:blipFill>
          <a:blip r:embed="rId3"/>
          <a:srcRect t="27" b="27"/>
          <a:stretch>
            <a:fillRect/>
          </a:stretch>
        </p:blipFill>
        <p:spPr>
          <a:xfrm>
            <a:off x="0" y="0"/>
            <a:ext cx="12192000" cy="6858000"/>
          </a:xfrm>
          <a:prstGeom prst="rect">
            <a:avLst/>
          </a:prstGeom>
        </p:spPr>
      </p:pic>
    </p:spTree>
    <p:extLst>
      <p:ext uri="{BB962C8B-B14F-4D97-AF65-F5344CB8AC3E}">
        <p14:creationId xmlns:p14="http://schemas.microsoft.com/office/powerpoint/2010/main" val="20905517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5896544-C4EB-40D7-B82F-18CC904EDDCB}"/>
              </a:ext>
            </a:extLst>
          </p:cNvPr>
          <p:cNvPicPr>
            <a:picLocks noGrp="1" noRot="1" noChangeAspect="1" noMove="1" noResize="1" noEditPoints="1" noAdjustHandles="1" noChangeArrowheads="1" noChangeShapeType="1" noCrop="1"/>
          </p:cNvPicPr>
          <p:nvPr/>
        </p:nvPicPr>
        <p:blipFill>
          <a:blip r:embed="rId3"/>
          <a:srcRect t="27" b="27"/>
          <a:stretch>
            <a:fillRect/>
          </a:stretch>
        </p:blipFill>
        <p:spPr>
          <a:xfrm>
            <a:off x="0" y="0"/>
            <a:ext cx="12192000" cy="6858000"/>
          </a:xfrm>
          <a:prstGeom prst="rect">
            <a:avLst/>
          </a:prstGeom>
        </p:spPr>
      </p:pic>
      <p:pic>
        <p:nvPicPr>
          <p:cNvPr id="2" name="Picture 1">
            <a:extLst>
              <a:ext uri="{FF2B5EF4-FFF2-40B4-BE49-F238E27FC236}">
                <a16:creationId xmlns:a16="http://schemas.microsoft.com/office/drawing/2014/main" id="{B57BF3D1-4560-448B-9E5E-BE12B14E307B}"/>
              </a:ext>
            </a:extLst>
          </p:cNvPr>
          <p:cNvPicPr>
            <a:picLocks noChangeAspect="1"/>
          </p:cNvPicPr>
          <p:nvPr/>
        </p:nvPicPr>
        <p:blipFill>
          <a:blip r:embed="rId4"/>
          <a:srcRect b="86574"/>
          <a:stretch/>
        </p:blipFill>
        <p:spPr>
          <a:xfrm>
            <a:off x="0" y="0"/>
            <a:ext cx="12192000" cy="920750"/>
          </a:xfrm>
          <a:prstGeom prst="rect">
            <a:avLst/>
          </a:prstGeom>
        </p:spPr>
      </p:pic>
    </p:spTree>
    <p:extLst>
      <p:ext uri="{BB962C8B-B14F-4D97-AF65-F5344CB8AC3E}">
        <p14:creationId xmlns:p14="http://schemas.microsoft.com/office/powerpoint/2010/main" val="36257119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1553</Words>
  <Application>Microsoft Office PowerPoint</Application>
  <DocSecurity>0</DocSecurity>
  <PresentationFormat>Widescreen</PresentationFormat>
  <Paragraphs>167</Paragraphs>
  <Slides>29</Slides>
  <Notes>27</Notes>
  <HiddenSlides>4</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py 陈</cp:lastModifiedBy>
  <cp:revision>3</cp:revision>
  <dcterms:created xsi:type="dcterms:W3CDTF">2026-10-29T03:07:30Z</dcterms:created>
  <dcterms:modified xsi:type="dcterms:W3CDTF">2026-10-29T10:53:19Z</dcterms:modified>
</cp:coreProperties>
</file>