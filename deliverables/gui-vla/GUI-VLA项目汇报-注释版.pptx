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62" autoAdjust="0"/>
  </p:normalViewPr>
  <p:slideViewPr>
    <p:cSldViewPr snapToGrid="0">
      <p:cViewPr varScale="1">
        <p:scale>
          <a:sx n="100" d="100"/>
          <a:sy n="100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本次核心方法围绕多模态观察与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Jev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快慢决策展开。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Student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融合视觉感知与结构化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信息，依托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Android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环境，输出坐标或节点动作完成点击、滑动、输入等操作。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通过快慢模型分层决策，慢模型负责规划、局部目标设定与核验，快模型从合法候选中筛选动作，无候选或受阻时回交处理，保障复杂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GUI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任务持续推进。</a:t>
            </a: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ent是持续执行主体，可直接操作、调用工具或按需使用Jev类快慢决策资源；慢模型给局部目标与核验，快模型结合当前合法候选选择动作。动作后读取真实反馈，无候选、受阻或异常时交回慢模型。不要求所有步骤都调用慢模型。图中接口兼容视觉/结构化UI与坐标/节点动作。</a:t>
            </a:r>
            <a:endParaRPr 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分层协作是这套系统的核心能力。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Student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负责执行任务并判断进展，遇到难点主动向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Teacher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求助，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Teacher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负责指导纠错和核查，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Worker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则组织协作并编码改进工具，同时依托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Data Lab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沉淀经验，形成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RSI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内外环的持续改进机制。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RSI内环：Student自主执行并识别困难；Teacher提供协助与纠错；Worker组织Teacher并处理工具/Harness工程问题，验证后将新能力交回Student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RSI外环：任务轨迹与监督进入Data Lab，经经验筛选、多Agent研发和按需后训练，更新Student及Agent Graph，再回到真实任务检验。协作按需发生，不是每一步固定的多模型流水线。完整RSI增益仍需对照验证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决策延迟中位数约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682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毫秒，六成决策耗时不足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800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毫秒，单步决策输出不到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180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token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，初步验证了技术方案的自主操作与高效决策能力。</a:t>
            </a:r>
            <a:endParaRPr 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ea typeface="宋体" panose="02010600030101010101" pitchFamily="2" charset="-122"/>
                <a:sym typeface="+mn-ea"/>
              </a:rPr>
              <a:t>后续聚焦真实移动端场景推进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四大</a:t>
            </a:r>
            <a:r>
              <a:rPr lang="zh-CN" dirty="0">
                <a:ea typeface="宋体" panose="02010600030101010101" pitchFamily="2" charset="-122"/>
                <a:sym typeface="+mn-ea"/>
              </a:rPr>
              <a:t>方向。先完成平台原型统一整合，再评估快慢决策与多智能体协作的实际增益，攻克跨应用长任务的可靠性痛点，依托数据生产实现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RSI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闭环迭代。同时需合作方提供标准化场景判据、适配测试环境与脱敏测试数据，共同推动技术落地。</a:t>
            </a:r>
            <a:endParaRPr lang="zh-CN" altLang="en-US" dirty="0">
              <a:ea typeface="宋体" panose="02010600030101010101" pitchFamily="2" charset="-122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矩形 99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8A90"/>
          </a:solidFill>
          <a:ln w="0">
            <a:noFill/>
          </a:ln>
        </p:spPr>
      </p:sp>
      <p:sp>
        <p:nvSpPr>
          <p:cNvPr id="1002" name="矩形 1001"/>
          <p:cNvSpPr>
            <a:spLocks noGrp="1"/>
          </p:cNvSpPr>
          <p:nvPr/>
        </p:nvSpPr>
        <p:spPr>
          <a:xfrm>
            <a:off x="7991475" y="895350"/>
            <a:ext cx="34385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Agentic Mobile GUI-VLA</a:t>
            </a:r>
          </a:p>
        </p:txBody>
      </p:sp>
      <p:sp>
        <p:nvSpPr>
          <p:cNvPr id="1003" name="矩形 1002"/>
          <p:cNvSpPr>
            <a:spLocks noGrp="1"/>
          </p:cNvSpPr>
          <p:nvPr/>
        </p:nvSpPr>
        <p:spPr>
          <a:xfrm>
            <a:off x="762000" y="1428750"/>
            <a:ext cx="106680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4" name="矩形 1003"/>
          <p:cNvSpPr>
            <a:spLocks noGrp="1"/>
          </p:cNvSpPr>
          <p:nvPr/>
        </p:nvSpPr>
        <p:spPr>
          <a:xfrm>
            <a:off x="914400" y="2124075"/>
            <a:ext cx="10363200" cy="1514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面向复杂移动 GUI 任务的</a:t>
            </a:r>
          </a:p>
          <a:p>
            <a:pPr algn="ctr">
              <a:def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高效可靠智能体技术</a:t>
            </a:r>
          </a:p>
        </p:txBody>
      </p:sp>
      <p:sp>
        <p:nvSpPr>
          <p:cNvPr id="1005" name="矩形 1004"/>
          <p:cNvSpPr>
            <a:spLocks noGrp="1"/>
          </p:cNvSpPr>
          <p:nvPr/>
        </p:nvSpPr>
        <p:spPr>
          <a:xfrm>
            <a:off x="1143000" y="4057650"/>
            <a:ext cx="990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基于多智能体图协作与反馈驱动自改进</a:t>
            </a:r>
          </a:p>
        </p:txBody>
      </p:sp>
      <p:sp>
        <p:nvSpPr>
          <p:cNvPr id="1006" name="矩形 1005"/>
          <p:cNvSpPr>
            <a:spLocks noGrp="1"/>
          </p:cNvSpPr>
          <p:nvPr/>
        </p:nvSpPr>
        <p:spPr>
          <a:xfrm>
            <a:off x="1714500" y="5248275"/>
            <a:ext cx="87630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矩形 999"/>
          <p:cNvSpPr>
            <a:spLocks noGrp="1"/>
          </p:cNvSpPr>
          <p:nvPr/>
        </p:nvSpPr>
        <p:spPr>
          <a:xfrm>
            <a:off x="609600" y="409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dirty="0" err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方法：多模态观察与</a:t>
            </a:r>
            <a:r>
              <a:rPr sz="2775" b="1" dirty="0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75" b="1" dirty="0" err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</a:t>
            </a:r>
            <a:r>
              <a:rPr sz="2775" b="1" dirty="0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75" b="1" dirty="0" err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快慢决策</a:t>
            </a:r>
            <a:endParaRPr sz="2775" b="1" dirty="0">
              <a:solidFill>
                <a:srgbClr val="1437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1" name="矩形 1000"/>
          <p:cNvSpPr>
            <a:spLocks noGrp="1"/>
          </p:cNvSpPr>
          <p:nvPr/>
        </p:nvSpPr>
        <p:spPr>
          <a:xfrm>
            <a:off x="609600" y="1152525"/>
            <a:ext cx="109728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2" name="矩形 1001"/>
          <p:cNvSpPr>
            <a:spLocks noGrp="1"/>
          </p:cNvSpPr>
          <p:nvPr/>
        </p:nvSpPr>
        <p:spPr>
          <a:xfrm>
            <a:off x="11201400" y="6553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03" name="矩形 1002"/>
          <p:cNvSpPr>
            <a:spLocks noGrp="1"/>
          </p:cNvSpPr>
          <p:nvPr/>
        </p:nvSpPr>
        <p:spPr>
          <a:xfrm>
            <a:off x="609600" y="1447800"/>
            <a:ext cx="47625" cy="314325"/>
          </a:xfrm>
          <a:prstGeom prst="rect">
            <a:avLst/>
          </a:prstGeom>
          <a:solidFill>
            <a:srgbClr val="008A90"/>
          </a:solidFill>
          <a:ln w="0">
            <a:noFill/>
          </a:ln>
        </p:spPr>
      </p:sp>
      <p:sp>
        <p:nvSpPr>
          <p:cNvPr id="1004" name="矩形 1003"/>
          <p:cNvSpPr>
            <a:spLocks noGrp="1"/>
          </p:cNvSpPr>
          <p:nvPr/>
        </p:nvSpPr>
        <p:spPr>
          <a:xfrm>
            <a:off x="781050" y="1425119"/>
            <a:ext cx="10801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 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结合视觉与结构化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UI、Jev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快慢决策，持续完成复杂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GUI 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endParaRPr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矩形 1004"/>
          <p:cNvSpPr>
            <a:spLocks noGrp="1"/>
          </p:cNvSpPr>
          <p:nvPr/>
        </p:nvSpPr>
        <p:spPr>
          <a:xfrm>
            <a:off x="609600" y="2695575"/>
            <a:ext cx="2400300" cy="2847975"/>
          </a:xfrm>
          <a:prstGeom prst="rect">
            <a:avLst/>
          </a:prstGeom>
          <a:solidFill>
            <a:srgbClr val="EAF3FA"/>
          </a:solidFill>
          <a:ln w="0">
            <a:noFill/>
          </a:ln>
        </p:spPr>
      </p:sp>
      <p:sp>
        <p:nvSpPr>
          <p:cNvPr id="1006" name="矩形 1005"/>
          <p:cNvSpPr>
            <a:spLocks noGrp="1"/>
          </p:cNvSpPr>
          <p:nvPr/>
        </p:nvSpPr>
        <p:spPr>
          <a:xfrm>
            <a:off x="781050" y="2905125"/>
            <a:ext cx="2057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</a:t>
            </a:r>
            <a:r>
              <a:rPr sz="2100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sz="2100" b="1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7" name="矩形 1006"/>
          <p:cNvSpPr>
            <a:spLocks noGrp="1"/>
          </p:cNvSpPr>
          <p:nvPr/>
        </p:nvSpPr>
        <p:spPr>
          <a:xfrm>
            <a:off x="733425" y="3352800"/>
            <a:ext cx="21526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云手机</a:t>
            </a:r>
            <a:r>
              <a:rPr sz="1500" b="0" dirty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500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模拟器</a:t>
            </a:r>
            <a:r>
              <a:rPr sz="1500" b="0" dirty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500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实机</a:t>
            </a:r>
            <a:endParaRPr sz="1500" b="0" dirty="0">
              <a:solidFill>
                <a:srgbClr val="50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8" name="矩形 1007"/>
          <p:cNvSpPr>
            <a:spLocks noGrp="1"/>
          </p:cNvSpPr>
          <p:nvPr/>
        </p:nvSpPr>
        <p:spPr>
          <a:xfrm>
            <a:off x="809625" y="3819525"/>
            <a:ext cx="2000250" cy="571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09" name="矩形 1008"/>
          <p:cNvSpPr>
            <a:spLocks noGrp="1"/>
          </p:cNvSpPr>
          <p:nvPr/>
        </p:nvSpPr>
        <p:spPr>
          <a:xfrm>
            <a:off x="904875" y="39814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sz="1725" b="1" dirty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UI </a:t>
            </a:r>
            <a:r>
              <a:rPr sz="1725" b="1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sz="1725" b="1" dirty="0">
              <a:solidFill>
                <a:srgbClr val="193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" name="矩形 1009"/>
          <p:cNvSpPr>
            <a:spLocks noGrp="1"/>
          </p:cNvSpPr>
          <p:nvPr/>
        </p:nvSpPr>
        <p:spPr>
          <a:xfrm>
            <a:off x="809625" y="4676775"/>
            <a:ext cx="2000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</a:t>
            </a:r>
            <a:r>
              <a:rPr sz="1725" b="0" dirty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725" b="0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节点动作</a:t>
            </a:r>
            <a:endParaRPr sz="1725" b="0" dirty="0">
              <a:solidFill>
                <a:srgbClr val="193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sz="1725" b="0" dirty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725" b="0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</a:t>
            </a:r>
            <a:r>
              <a:rPr sz="1725" b="0" dirty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725" b="0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725" b="0" dirty="0">
              <a:solidFill>
                <a:srgbClr val="193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1" name="矩形 1010"/>
          <p:cNvSpPr>
            <a:spLocks noGrp="1"/>
          </p:cNvSpPr>
          <p:nvPr/>
        </p:nvSpPr>
        <p:spPr>
          <a:xfrm>
            <a:off x="4191000" y="2695575"/>
            <a:ext cx="7391400" cy="2847975"/>
          </a:xfrm>
          <a:prstGeom prst="rect">
            <a:avLst/>
          </a:prstGeom>
          <a:solidFill>
            <a:srgbClr val="EAF3FA"/>
          </a:solidFill>
          <a:ln w="14288">
            <a:solidFill>
              <a:srgbClr val="CBDFED"/>
            </a:solidFill>
          </a:ln>
        </p:spPr>
      </p:sp>
      <p:sp>
        <p:nvSpPr>
          <p:cNvPr id="1012" name="矩形 1011"/>
          <p:cNvSpPr>
            <a:spLocks noGrp="1"/>
          </p:cNvSpPr>
          <p:nvPr/>
        </p:nvSpPr>
        <p:spPr>
          <a:xfrm>
            <a:off x="4400550" y="2857500"/>
            <a:ext cx="69723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 · 持续执行主体</a:t>
            </a:r>
          </a:p>
        </p:txBody>
      </p:sp>
      <p:sp>
        <p:nvSpPr>
          <p:cNvPr id="1013" name="矩形 1012"/>
          <p:cNvSpPr>
            <a:spLocks noGrp="1"/>
          </p:cNvSpPr>
          <p:nvPr/>
        </p:nvSpPr>
        <p:spPr>
          <a:xfrm>
            <a:off x="4448175" y="3371850"/>
            <a:ext cx="32670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· 历史 · 工作空间</a:t>
            </a:r>
          </a:p>
        </p:txBody>
      </p:sp>
      <p:sp>
        <p:nvSpPr>
          <p:cNvPr id="1014" name="矩形 1013"/>
          <p:cNvSpPr>
            <a:spLocks noGrp="1"/>
          </p:cNvSpPr>
          <p:nvPr/>
        </p:nvSpPr>
        <p:spPr>
          <a:xfrm>
            <a:off x="7991475" y="3371850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自主操作 · 工具调用</a:t>
            </a:r>
          </a:p>
        </p:txBody>
      </p:sp>
      <p:sp>
        <p:nvSpPr>
          <p:cNvPr id="1015" name="矩形 1014"/>
          <p:cNvSpPr>
            <a:spLocks noGrp="1"/>
          </p:cNvSpPr>
          <p:nvPr/>
        </p:nvSpPr>
        <p:spPr>
          <a:xfrm>
            <a:off x="6057900" y="2009775"/>
            <a:ext cx="3657600" cy="419100"/>
          </a:xfrm>
          <a:prstGeom prst="rect">
            <a:avLst/>
          </a:prstGeom>
          <a:solidFill>
            <a:srgbClr val="E5F4F2"/>
          </a:solidFill>
          <a:ln w="0">
            <a:noFill/>
          </a:ln>
        </p:spPr>
      </p:sp>
      <p:sp>
        <p:nvSpPr>
          <p:cNvPr id="1016" name="矩形 1015"/>
          <p:cNvSpPr>
            <a:spLocks noGrp="1"/>
          </p:cNvSpPr>
          <p:nvPr/>
        </p:nvSpPr>
        <p:spPr>
          <a:xfrm>
            <a:off x="6181725" y="2076450"/>
            <a:ext cx="34099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用户目标与约束</a:t>
            </a:r>
          </a:p>
        </p:txBody>
      </p:sp>
      <p:cxnSp>
        <p:nvCxnSpPr>
          <p:cNvPr id="1017" name="直接箭头连接符 1016"/>
          <p:cNvCxnSpPr/>
          <p:nvPr/>
        </p:nvCxnSpPr>
        <p:spPr>
          <a:xfrm>
            <a:off x="7886700" y="2428875"/>
            <a:ext cx="0" cy="26670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cxnSp>
        <p:nvCxnSpPr>
          <p:cNvPr id="1018" name="直接箭头连接符 1017"/>
          <p:cNvCxnSpPr/>
          <p:nvPr/>
        </p:nvCxnSpPr>
        <p:spPr>
          <a:xfrm>
            <a:off x="3009900" y="3600450"/>
            <a:ext cx="1181100" cy="0"/>
          </a:xfrm>
          <a:prstGeom prst="straightConnector1">
            <a:avLst/>
          </a:prstGeom>
          <a:ln w="24765">
            <a:solidFill>
              <a:srgbClr val="1765AD"/>
            </a:solidFill>
            <a:prstDash val="solid"/>
            <a:tailEnd type="triangle" w="med" len="med"/>
          </a:ln>
        </p:spPr>
      </p:cxnSp>
      <p:sp>
        <p:nvSpPr>
          <p:cNvPr id="1019" name="矩形 1018"/>
          <p:cNvSpPr>
            <a:spLocks noGrp="1"/>
          </p:cNvSpPr>
          <p:nvPr/>
        </p:nvSpPr>
        <p:spPr>
          <a:xfrm>
            <a:off x="3152775" y="3276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</a:t>
            </a:r>
            <a:endParaRPr sz="1575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20" name="直接箭头连接符 1019"/>
          <p:cNvCxnSpPr/>
          <p:nvPr/>
        </p:nvCxnSpPr>
        <p:spPr>
          <a:xfrm>
            <a:off x="3009900" y="4705350"/>
            <a:ext cx="1181100" cy="0"/>
          </a:xfrm>
          <a:prstGeom prst="straightConnector1">
            <a:avLst/>
          </a:prstGeom>
          <a:ln w="24765">
            <a:solidFill>
              <a:srgbClr val="1765AD"/>
            </a:solidFill>
            <a:prstDash val="solid"/>
            <a:headEnd type="triangle" w="med" len="med"/>
          </a:ln>
        </p:spPr>
      </p:cxnSp>
      <p:sp>
        <p:nvSpPr>
          <p:cNvPr id="1021" name="矩形 1020"/>
          <p:cNvSpPr>
            <a:spLocks noGrp="1"/>
          </p:cNvSpPr>
          <p:nvPr/>
        </p:nvSpPr>
        <p:spPr>
          <a:xfrm>
            <a:off x="3038475" y="4362450"/>
            <a:ext cx="11144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执行动作</a:t>
            </a:r>
            <a:endParaRPr sz="1425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2" name="矩形 1021"/>
          <p:cNvSpPr>
            <a:spLocks noGrp="1"/>
          </p:cNvSpPr>
          <p:nvPr/>
        </p:nvSpPr>
        <p:spPr>
          <a:xfrm>
            <a:off x="4476750" y="3819525"/>
            <a:ext cx="6819900" cy="15049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23" name="矩形 1022"/>
          <p:cNvSpPr>
            <a:spLocks noGrp="1"/>
          </p:cNvSpPr>
          <p:nvPr/>
        </p:nvSpPr>
        <p:spPr>
          <a:xfrm>
            <a:off x="4619625" y="3905250"/>
            <a:ext cx="6534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</a:t>
            </a:r>
            <a:r>
              <a:rPr sz="1875" b="1" dirty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875" b="1" dirty="0" err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按需快慢决策</a:t>
            </a:r>
            <a:endParaRPr sz="1875" b="1" dirty="0">
              <a:solidFill>
                <a:srgbClr val="008A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" name="矩形 1023"/>
          <p:cNvSpPr>
            <a:spLocks noGrp="1"/>
          </p:cNvSpPr>
          <p:nvPr/>
        </p:nvSpPr>
        <p:spPr>
          <a:xfrm>
            <a:off x="4686300" y="4371975"/>
            <a:ext cx="2095500" cy="742950"/>
          </a:xfrm>
          <a:prstGeom prst="rect">
            <a:avLst/>
          </a:prstGeom>
          <a:solidFill>
            <a:srgbClr val="EAF3FA"/>
          </a:solidFill>
          <a:ln w="0">
            <a:noFill/>
          </a:ln>
        </p:spPr>
      </p:sp>
      <p:sp>
        <p:nvSpPr>
          <p:cNvPr id="1025" name="矩形 1024"/>
          <p:cNvSpPr>
            <a:spLocks noGrp="1"/>
          </p:cNvSpPr>
          <p:nvPr/>
        </p:nvSpPr>
        <p:spPr>
          <a:xfrm>
            <a:off x="4819650" y="4429125"/>
            <a:ext cx="1828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慢模型</a:t>
            </a:r>
            <a:endParaRPr sz="2025" b="1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6" name="矩形 1025"/>
          <p:cNvSpPr>
            <a:spLocks noGrp="1"/>
          </p:cNvSpPr>
          <p:nvPr/>
        </p:nvSpPr>
        <p:spPr>
          <a:xfrm>
            <a:off x="4781550" y="4829175"/>
            <a:ext cx="1905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r>
              <a:rPr sz="1425" b="0" dirty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425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局部目标</a:t>
            </a:r>
            <a:r>
              <a:rPr sz="1425" b="0" dirty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425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</a:t>
            </a:r>
            <a:endParaRPr sz="1425" b="0" dirty="0">
              <a:solidFill>
                <a:srgbClr val="50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7" name="矩形 1026"/>
          <p:cNvSpPr>
            <a:spLocks noGrp="1"/>
          </p:cNvSpPr>
          <p:nvPr/>
        </p:nvSpPr>
        <p:spPr>
          <a:xfrm>
            <a:off x="8991600" y="4371975"/>
            <a:ext cx="2095500" cy="742950"/>
          </a:xfrm>
          <a:prstGeom prst="rect">
            <a:avLst/>
          </a:prstGeom>
          <a:solidFill>
            <a:srgbClr val="E5F4F2"/>
          </a:solidFill>
          <a:ln w="0">
            <a:noFill/>
          </a:ln>
        </p:spPr>
      </p:sp>
      <p:sp>
        <p:nvSpPr>
          <p:cNvPr id="1028" name="矩形 1027"/>
          <p:cNvSpPr>
            <a:spLocks noGrp="1"/>
          </p:cNvSpPr>
          <p:nvPr/>
        </p:nvSpPr>
        <p:spPr>
          <a:xfrm>
            <a:off x="9124950" y="4429125"/>
            <a:ext cx="1828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dirty="0" err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快模型</a:t>
            </a:r>
            <a:endParaRPr sz="2025" b="1" dirty="0">
              <a:solidFill>
                <a:srgbClr val="008A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9" name="矩形 1028"/>
          <p:cNvSpPr>
            <a:spLocks noGrp="1"/>
          </p:cNvSpPr>
          <p:nvPr/>
        </p:nvSpPr>
        <p:spPr>
          <a:xfrm>
            <a:off x="9086850" y="4829175"/>
            <a:ext cx="1905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从合法候选中选择动作</a:t>
            </a:r>
            <a:endParaRPr sz="1425" b="0" dirty="0">
              <a:solidFill>
                <a:srgbClr val="50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30" name="直接箭头连接符 1029"/>
          <p:cNvCxnSpPr/>
          <p:nvPr/>
        </p:nvCxnSpPr>
        <p:spPr>
          <a:xfrm>
            <a:off x="6781800" y="4591050"/>
            <a:ext cx="220980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sp>
        <p:nvSpPr>
          <p:cNvPr id="1031" name="矩形 1030"/>
          <p:cNvSpPr>
            <a:spLocks noGrp="1"/>
          </p:cNvSpPr>
          <p:nvPr/>
        </p:nvSpPr>
        <p:spPr>
          <a:xfrm>
            <a:off x="7029450" y="43053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局部目标</a:t>
            </a:r>
          </a:p>
        </p:txBody>
      </p:sp>
      <p:cxnSp>
        <p:nvCxnSpPr>
          <p:cNvPr id="1032" name="直接箭头连接符 1031"/>
          <p:cNvCxnSpPr/>
          <p:nvPr/>
        </p:nvCxnSpPr>
        <p:spPr>
          <a:xfrm>
            <a:off x="6781800" y="4972050"/>
            <a:ext cx="220980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headEnd type="triangle" w="med" len="med"/>
          </a:ln>
        </p:spPr>
      </p:cxnSp>
      <p:sp>
        <p:nvSpPr>
          <p:cNvPr id="1033" name="矩形 1032"/>
          <p:cNvSpPr>
            <a:spLocks noGrp="1"/>
          </p:cNvSpPr>
          <p:nvPr/>
        </p:nvSpPr>
        <p:spPr>
          <a:xfrm>
            <a:off x="6858000" y="5048250"/>
            <a:ext cx="2057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无候选 / 受阻时回交</a:t>
            </a:r>
          </a:p>
        </p:txBody>
      </p:sp>
      <p:sp>
        <p:nvSpPr>
          <p:cNvPr id="1034" name="矩形 1033"/>
          <p:cNvSpPr>
            <a:spLocks noGrp="1"/>
          </p:cNvSpPr>
          <p:nvPr/>
        </p:nvSpPr>
        <p:spPr>
          <a:xfrm>
            <a:off x="609600" y="6124575"/>
            <a:ext cx="10972800" cy="352425"/>
          </a:xfrm>
          <a:prstGeom prst="rect">
            <a:avLst/>
          </a:prstGeom>
          <a:solidFill>
            <a:srgbClr val="EEF6FC"/>
          </a:solidFill>
          <a:ln w="0">
            <a:noFill/>
          </a:ln>
        </p:spPr>
      </p:sp>
      <p:sp>
        <p:nvSpPr>
          <p:cNvPr id="1035" name="矩形 1034"/>
          <p:cNvSpPr>
            <a:spLocks noGrp="1"/>
          </p:cNvSpPr>
          <p:nvPr/>
        </p:nvSpPr>
        <p:spPr>
          <a:xfrm>
            <a:off x="762000" y="6200775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开发基座</a:t>
            </a:r>
          </a:p>
        </p:txBody>
      </p:sp>
      <p:sp>
        <p:nvSpPr>
          <p:cNvPr id="1036" name="矩形 1035"/>
          <p:cNvSpPr>
            <a:spLocks noGrp="1"/>
          </p:cNvSpPr>
          <p:nvPr/>
        </p:nvSpPr>
        <p:spPr>
          <a:xfrm>
            <a:off x="2190750" y="6200775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Platform · </a:t>
            </a:r>
            <a:r>
              <a:rPr sz="1350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观察与动作</a:t>
            </a:r>
            <a:endParaRPr sz="1350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7" name="矩形 1036"/>
          <p:cNvSpPr>
            <a:spLocks noGrp="1"/>
          </p:cNvSpPr>
          <p:nvPr/>
        </p:nvSpPr>
        <p:spPr>
          <a:xfrm>
            <a:off x="5267325" y="6200775"/>
            <a:ext cx="2695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 · </a:t>
            </a:r>
            <a:r>
              <a:rPr sz="1350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模型与策略</a:t>
            </a:r>
            <a:endParaRPr sz="1350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8" name="矩形 1037"/>
          <p:cNvSpPr>
            <a:spLocks noGrp="1"/>
          </p:cNvSpPr>
          <p:nvPr/>
        </p:nvSpPr>
        <p:spPr>
          <a:xfrm>
            <a:off x="8258175" y="6200775"/>
            <a:ext cx="3105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Lab · 交互与数据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矩形 999"/>
          <p:cNvSpPr>
            <a:spLocks noGrp="1"/>
          </p:cNvSpPr>
          <p:nvPr/>
        </p:nvSpPr>
        <p:spPr>
          <a:xfrm>
            <a:off x="609600" y="409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dirty="0" err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方法：多智能体协作与</a:t>
            </a:r>
            <a:r>
              <a:rPr sz="2775" b="1" dirty="0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RSI </a:t>
            </a:r>
            <a:r>
              <a:rPr sz="2775" b="1" dirty="0" err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  <a:endParaRPr sz="2775" b="1" dirty="0">
              <a:solidFill>
                <a:srgbClr val="1437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1" name="矩形 1000"/>
          <p:cNvSpPr>
            <a:spLocks noGrp="1"/>
          </p:cNvSpPr>
          <p:nvPr/>
        </p:nvSpPr>
        <p:spPr>
          <a:xfrm>
            <a:off x="609600" y="1152525"/>
            <a:ext cx="109728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2" name="矩形 1001"/>
          <p:cNvSpPr>
            <a:spLocks noGrp="1"/>
          </p:cNvSpPr>
          <p:nvPr/>
        </p:nvSpPr>
        <p:spPr>
          <a:xfrm>
            <a:off x="11201400" y="6553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03" name="矩形 1002"/>
          <p:cNvSpPr>
            <a:spLocks noGrp="1"/>
          </p:cNvSpPr>
          <p:nvPr/>
        </p:nvSpPr>
        <p:spPr>
          <a:xfrm>
            <a:off x="609600" y="1330925"/>
            <a:ext cx="47625" cy="314325"/>
          </a:xfrm>
          <a:prstGeom prst="rect">
            <a:avLst/>
          </a:prstGeom>
          <a:solidFill>
            <a:srgbClr val="008A90"/>
          </a:solidFill>
          <a:ln w="0">
            <a:noFill/>
          </a:ln>
        </p:spPr>
      </p:sp>
      <p:sp>
        <p:nvSpPr>
          <p:cNvPr id="1004" name="矩形 1003"/>
          <p:cNvSpPr>
            <a:spLocks noGrp="1"/>
          </p:cNvSpPr>
          <p:nvPr/>
        </p:nvSpPr>
        <p:spPr>
          <a:xfrm>
            <a:off x="781050" y="1307650"/>
            <a:ext cx="10801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分层协作解决当前任务难题，真实反馈推动工具、模型与协作图持续改进</a:t>
            </a:r>
            <a:endParaRPr sz="24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矩形 1004"/>
          <p:cNvSpPr>
            <a:spLocks noGrp="1"/>
          </p:cNvSpPr>
          <p:nvPr/>
        </p:nvSpPr>
        <p:spPr>
          <a:xfrm>
            <a:off x="857250" y="2781300"/>
            <a:ext cx="2286000" cy="1181100"/>
          </a:xfrm>
          <a:prstGeom prst="rect">
            <a:avLst/>
          </a:prstGeom>
          <a:solidFill>
            <a:srgbClr val="EAF3FA"/>
          </a:solidFill>
          <a:ln w="0">
            <a:noFill/>
          </a:ln>
        </p:spPr>
      </p:sp>
      <p:sp>
        <p:nvSpPr>
          <p:cNvPr id="1006" name="矩形 1005"/>
          <p:cNvSpPr>
            <a:spLocks noGrp="1"/>
          </p:cNvSpPr>
          <p:nvPr/>
        </p:nvSpPr>
        <p:spPr>
          <a:xfrm>
            <a:off x="1009650" y="2981325"/>
            <a:ext cx="19812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</a:t>
            </a:r>
          </a:p>
        </p:txBody>
      </p:sp>
      <p:sp>
        <p:nvSpPr>
          <p:cNvPr id="1007" name="矩形 1006"/>
          <p:cNvSpPr>
            <a:spLocks noGrp="1"/>
          </p:cNvSpPr>
          <p:nvPr/>
        </p:nvSpPr>
        <p:spPr>
          <a:xfrm>
            <a:off x="981075" y="3486150"/>
            <a:ext cx="2038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/ 进展判断</a:t>
            </a:r>
          </a:p>
        </p:txBody>
      </p:sp>
      <p:sp>
        <p:nvSpPr>
          <p:cNvPr id="1008" name="矩形 1007"/>
          <p:cNvSpPr>
            <a:spLocks noGrp="1"/>
          </p:cNvSpPr>
          <p:nvPr/>
        </p:nvSpPr>
        <p:spPr>
          <a:xfrm>
            <a:off x="4381500" y="2781300"/>
            <a:ext cx="2571750" cy="1181100"/>
          </a:xfrm>
          <a:prstGeom prst="rect">
            <a:avLst/>
          </a:prstGeom>
          <a:solidFill>
            <a:srgbClr val="E5F4F2"/>
          </a:solidFill>
          <a:ln w="0">
            <a:noFill/>
          </a:ln>
        </p:spPr>
      </p:sp>
      <p:sp>
        <p:nvSpPr>
          <p:cNvPr id="1009" name="矩形 1008"/>
          <p:cNvSpPr>
            <a:spLocks noGrp="1"/>
          </p:cNvSpPr>
          <p:nvPr/>
        </p:nvSpPr>
        <p:spPr>
          <a:xfrm>
            <a:off x="4552950" y="2981325"/>
            <a:ext cx="22288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</a:t>
            </a:r>
          </a:p>
        </p:txBody>
      </p:sp>
      <p:sp>
        <p:nvSpPr>
          <p:cNvPr id="1010" name="矩形 1009"/>
          <p:cNvSpPr>
            <a:spLocks noGrp="1"/>
          </p:cNvSpPr>
          <p:nvPr/>
        </p:nvSpPr>
        <p:spPr>
          <a:xfrm>
            <a:off x="4514850" y="3486150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 / 纠错 / 核查</a:t>
            </a:r>
          </a:p>
        </p:txBody>
      </p:sp>
      <p:sp>
        <p:nvSpPr>
          <p:cNvPr id="1011" name="矩形 1010"/>
          <p:cNvSpPr>
            <a:spLocks noGrp="1"/>
          </p:cNvSpPr>
          <p:nvPr/>
        </p:nvSpPr>
        <p:spPr>
          <a:xfrm>
            <a:off x="8572500" y="2781300"/>
            <a:ext cx="2667000" cy="1181100"/>
          </a:xfrm>
          <a:prstGeom prst="rect">
            <a:avLst/>
          </a:prstGeom>
          <a:solidFill>
            <a:srgbClr val="FAF0E2"/>
          </a:solidFill>
          <a:ln w="0">
            <a:noFill/>
          </a:ln>
        </p:spPr>
      </p:sp>
      <p:sp>
        <p:nvSpPr>
          <p:cNvPr id="1012" name="矩形 1011"/>
          <p:cNvSpPr>
            <a:spLocks noGrp="1"/>
          </p:cNvSpPr>
          <p:nvPr/>
        </p:nvSpPr>
        <p:spPr>
          <a:xfrm>
            <a:off x="8724900" y="2981325"/>
            <a:ext cx="23622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dirty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Worker</a:t>
            </a:r>
          </a:p>
        </p:txBody>
      </p:sp>
      <p:sp>
        <p:nvSpPr>
          <p:cNvPr id="1013" name="矩形 1012"/>
          <p:cNvSpPr>
            <a:spLocks noGrp="1"/>
          </p:cNvSpPr>
          <p:nvPr/>
        </p:nvSpPr>
        <p:spPr>
          <a:xfrm>
            <a:off x="8686800" y="34861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组织协作 / 编码改进</a:t>
            </a:r>
          </a:p>
        </p:txBody>
      </p:sp>
      <p:cxnSp>
        <p:nvCxnSpPr>
          <p:cNvPr id="1014" name="直接箭头连接符 1013"/>
          <p:cNvCxnSpPr/>
          <p:nvPr/>
        </p:nvCxnSpPr>
        <p:spPr>
          <a:xfrm>
            <a:off x="3143250" y="3114675"/>
            <a:ext cx="123825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sp>
        <p:nvSpPr>
          <p:cNvPr id="1015" name="矩形 1014"/>
          <p:cNvSpPr>
            <a:spLocks noGrp="1"/>
          </p:cNvSpPr>
          <p:nvPr/>
        </p:nvSpPr>
        <p:spPr>
          <a:xfrm>
            <a:off x="3295650" y="2838450"/>
            <a:ext cx="933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主动求助</a:t>
            </a:r>
          </a:p>
        </p:txBody>
      </p:sp>
      <p:cxnSp>
        <p:nvCxnSpPr>
          <p:cNvPr id="1016" name="直接箭头连接符 1015"/>
          <p:cNvCxnSpPr/>
          <p:nvPr/>
        </p:nvCxnSpPr>
        <p:spPr>
          <a:xfrm>
            <a:off x="3143250" y="3667125"/>
            <a:ext cx="123825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headEnd type="triangle" w="med" len="med"/>
          </a:ln>
        </p:spPr>
      </p:cxnSp>
      <p:sp>
        <p:nvSpPr>
          <p:cNvPr id="1017" name="矩形 1016"/>
          <p:cNvSpPr>
            <a:spLocks noGrp="1"/>
          </p:cNvSpPr>
          <p:nvPr/>
        </p:nvSpPr>
        <p:spPr>
          <a:xfrm>
            <a:off x="3181350" y="3705225"/>
            <a:ext cx="1162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协助与纠错</a:t>
            </a:r>
          </a:p>
        </p:txBody>
      </p:sp>
      <p:cxnSp>
        <p:nvCxnSpPr>
          <p:cNvPr id="1018" name="直接箭头连接符 1017"/>
          <p:cNvCxnSpPr/>
          <p:nvPr/>
        </p:nvCxnSpPr>
        <p:spPr>
          <a:xfrm>
            <a:off x="6953250" y="3352800"/>
            <a:ext cx="1619250" cy="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  <a:headEnd type="triangle" w="med" len="med"/>
          </a:ln>
        </p:spPr>
      </p:cxnSp>
      <p:sp>
        <p:nvSpPr>
          <p:cNvPr id="1019" name="矩形 1018"/>
          <p:cNvSpPr>
            <a:spLocks noGrp="1"/>
          </p:cNvSpPr>
          <p:nvPr/>
        </p:nvSpPr>
        <p:spPr>
          <a:xfrm>
            <a:off x="7086600" y="3028950"/>
            <a:ext cx="13525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 Teacher</a:t>
            </a:r>
          </a:p>
        </p:txBody>
      </p:sp>
      <p:cxnSp>
        <p:nvCxnSpPr>
          <p:cNvPr id="1020" name="直接箭头连接符 1019"/>
          <p:cNvCxnSpPr/>
          <p:nvPr/>
        </p:nvCxnSpPr>
        <p:spPr>
          <a:xfrm>
            <a:off x="2266950" y="2438400"/>
            <a:ext cx="0" cy="34290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21" name="直接箭头连接符 1020"/>
          <p:cNvCxnSpPr/>
          <p:nvPr/>
        </p:nvCxnSpPr>
        <p:spPr>
          <a:xfrm>
            <a:off x="2266950" y="2438400"/>
            <a:ext cx="7639050" cy="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22" name="直接箭头连接符 1021"/>
          <p:cNvCxnSpPr/>
          <p:nvPr/>
        </p:nvCxnSpPr>
        <p:spPr>
          <a:xfrm>
            <a:off x="9906000" y="2438400"/>
            <a:ext cx="0" cy="34290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  <a:tailEnd type="triangle" w="med" len="med"/>
          </a:ln>
        </p:spPr>
      </p:cxnSp>
      <p:sp>
        <p:nvSpPr>
          <p:cNvPr id="1023" name="矩形 1022"/>
          <p:cNvSpPr>
            <a:spLocks noGrp="1"/>
          </p:cNvSpPr>
          <p:nvPr/>
        </p:nvSpPr>
        <p:spPr>
          <a:xfrm>
            <a:off x="4552950" y="21526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RSI 内环 · 工程问题与任务内改进</a:t>
            </a:r>
          </a:p>
        </p:txBody>
      </p:sp>
      <p:cxnSp>
        <p:nvCxnSpPr>
          <p:cNvPr id="1024" name="直接箭头连接符 1023"/>
          <p:cNvCxnSpPr/>
          <p:nvPr/>
        </p:nvCxnSpPr>
        <p:spPr>
          <a:xfrm>
            <a:off x="9906000" y="3962400"/>
            <a:ext cx="0" cy="447675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25" name="直接箭头连接符 1024"/>
          <p:cNvCxnSpPr/>
          <p:nvPr/>
        </p:nvCxnSpPr>
        <p:spPr>
          <a:xfrm>
            <a:off x="2667000" y="4410075"/>
            <a:ext cx="7239000" cy="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26" name="直接箭头连接符 1025"/>
          <p:cNvCxnSpPr/>
          <p:nvPr/>
        </p:nvCxnSpPr>
        <p:spPr>
          <a:xfrm>
            <a:off x="2667000" y="3962400"/>
            <a:ext cx="0" cy="447675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  <a:headEnd type="triangle" w="med" len="med"/>
          </a:ln>
        </p:spPr>
      </p:cxnSp>
      <p:sp>
        <p:nvSpPr>
          <p:cNvPr id="1027" name="矩形 1026"/>
          <p:cNvSpPr>
            <a:spLocks noGrp="1"/>
          </p:cNvSpPr>
          <p:nvPr/>
        </p:nvSpPr>
        <p:spPr>
          <a:xfrm>
            <a:off x="3924300" y="4095750"/>
            <a:ext cx="4857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/ Harness 改进 → 验证后接回</a:t>
            </a:r>
          </a:p>
        </p:txBody>
      </p:sp>
      <p:sp>
        <p:nvSpPr>
          <p:cNvPr id="1028" name="矩形 1027"/>
          <p:cNvSpPr>
            <a:spLocks noGrp="1"/>
          </p:cNvSpPr>
          <p:nvPr/>
        </p:nvSpPr>
        <p:spPr>
          <a:xfrm>
            <a:off x="857250" y="5114925"/>
            <a:ext cx="2286000" cy="676275"/>
          </a:xfrm>
          <a:prstGeom prst="rect">
            <a:avLst/>
          </a:prstGeom>
          <a:solidFill>
            <a:srgbClr val="EAF3FA"/>
          </a:solidFill>
          <a:ln w="0">
            <a:noFill/>
          </a:ln>
        </p:spPr>
      </p:sp>
      <p:sp>
        <p:nvSpPr>
          <p:cNvPr id="1029" name="矩形 1028"/>
          <p:cNvSpPr>
            <a:spLocks noGrp="1"/>
          </p:cNvSpPr>
          <p:nvPr/>
        </p:nvSpPr>
        <p:spPr>
          <a:xfrm>
            <a:off x="1000125" y="517207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Lab</a:t>
            </a:r>
          </a:p>
        </p:txBody>
      </p:sp>
      <p:sp>
        <p:nvSpPr>
          <p:cNvPr id="1030" name="矩形 1029"/>
          <p:cNvSpPr>
            <a:spLocks noGrp="1"/>
          </p:cNvSpPr>
          <p:nvPr/>
        </p:nvSpPr>
        <p:spPr>
          <a:xfrm>
            <a:off x="971550" y="5505450"/>
            <a:ext cx="2057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轨迹 / 监督 / 经验</a:t>
            </a:r>
          </a:p>
        </p:txBody>
      </p:sp>
      <p:sp>
        <p:nvSpPr>
          <p:cNvPr id="1031" name="矩形 1030"/>
          <p:cNvSpPr>
            <a:spLocks noGrp="1"/>
          </p:cNvSpPr>
          <p:nvPr/>
        </p:nvSpPr>
        <p:spPr>
          <a:xfrm>
            <a:off x="4381500" y="5114925"/>
            <a:ext cx="2571750" cy="676275"/>
          </a:xfrm>
          <a:prstGeom prst="rect">
            <a:avLst/>
          </a:prstGeom>
          <a:solidFill>
            <a:srgbClr val="EAF3FA"/>
          </a:solidFill>
          <a:ln w="0">
            <a:noFill/>
          </a:ln>
        </p:spPr>
      </p:sp>
      <p:sp>
        <p:nvSpPr>
          <p:cNvPr id="1032" name="矩形 1031"/>
          <p:cNvSpPr>
            <a:spLocks noGrp="1"/>
          </p:cNvSpPr>
          <p:nvPr/>
        </p:nvSpPr>
        <p:spPr>
          <a:xfrm>
            <a:off x="4514850" y="5172075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</a:t>
            </a:r>
            <a:r>
              <a:rPr sz="1875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</a:t>
            </a:r>
            <a:endParaRPr sz="1875" b="1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3" name="矩形 1032"/>
          <p:cNvSpPr>
            <a:spLocks noGrp="1"/>
          </p:cNvSpPr>
          <p:nvPr/>
        </p:nvSpPr>
        <p:spPr>
          <a:xfrm>
            <a:off x="4476750" y="550545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/ 数据 / 按需训练</a:t>
            </a:r>
          </a:p>
        </p:txBody>
      </p:sp>
      <p:sp>
        <p:nvSpPr>
          <p:cNvPr id="1034" name="矩形 1033"/>
          <p:cNvSpPr>
            <a:spLocks noGrp="1"/>
          </p:cNvSpPr>
          <p:nvPr/>
        </p:nvSpPr>
        <p:spPr>
          <a:xfrm>
            <a:off x="8572500" y="5114925"/>
            <a:ext cx="2667000" cy="676275"/>
          </a:xfrm>
          <a:prstGeom prst="rect">
            <a:avLst/>
          </a:prstGeom>
          <a:solidFill>
            <a:srgbClr val="E5F4F2"/>
          </a:solidFill>
          <a:ln w="0">
            <a:noFill/>
          </a:ln>
        </p:spPr>
      </p:sp>
      <p:sp>
        <p:nvSpPr>
          <p:cNvPr id="1035" name="矩形 1034"/>
          <p:cNvSpPr>
            <a:spLocks noGrp="1"/>
          </p:cNvSpPr>
          <p:nvPr/>
        </p:nvSpPr>
        <p:spPr>
          <a:xfrm>
            <a:off x="8705850" y="5172075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Student</a:t>
            </a:r>
          </a:p>
        </p:txBody>
      </p:sp>
      <p:sp>
        <p:nvSpPr>
          <p:cNvPr id="1036" name="矩形 1035"/>
          <p:cNvSpPr>
            <a:spLocks noGrp="1"/>
          </p:cNvSpPr>
          <p:nvPr/>
        </p:nvSpPr>
        <p:spPr>
          <a:xfrm>
            <a:off x="8705850" y="5505450"/>
            <a:ext cx="2400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更新模型 + 协作图</a:t>
            </a:r>
          </a:p>
        </p:txBody>
      </p:sp>
      <p:cxnSp>
        <p:nvCxnSpPr>
          <p:cNvPr id="1037" name="直接箭头连接符 1036"/>
          <p:cNvCxnSpPr/>
          <p:nvPr/>
        </p:nvCxnSpPr>
        <p:spPr>
          <a:xfrm>
            <a:off x="1571625" y="3962400"/>
            <a:ext cx="0" cy="1152525"/>
          </a:xfrm>
          <a:prstGeom prst="straightConnector1">
            <a:avLst/>
          </a:prstGeom>
          <a:ln w="24765">
            <a:solidFill>
              <a:srgbClr val="1765AD"/>
            </a:solidFill>
            <a:prstDash val="solid"/>
            <a:tailEnd type="triangle" w="med" len="med"/>
          </a:ln>
        </p:spPr>
      </p:cxnSp>
      <p:sp>
        <p:nvSpPr>
          <p:cNvPr id="1038" name="矩形 1037"/>
          <p:cNvSpPr>
            <a:spLocks noGrp="1"/>
          </p:cNvSpPr>
          <p:nvPr/>
        </p:nvSpPr>
        <p:spPr>
          <a:xfrm>
            <a:off x="1695450" y="4648200"/>
            <a:ext cx="14382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任务反馈</a:t>
            </a:r>
          </a:p>
        </p:txBody>
      </p:sp>
      <p:cxnSp>
        <p:nvCxnSpPr>
          <p:cNvPr id="1039" name="直接箭头连接符 1038"/>
          <p:cNvCxnSpPr/>
          <p:nvPr/>
        </p:nvCxnSpPr>
        <p:spPr>
          <a:xfrm>
            <a:off x="3143250" y="5457825"/>
            <a:ext cx="123825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sp>
        <p:nvSpPr>
          <p:cNvPr id="1040" name="矩形 1039"/>
          <p:cNvSpPr>
            <a:spLocks noGrp="1"/>
          </p:cNvSpPr>
          <p:nvPr/>
        </p:nvSpPr>
        <p:spPr>
          <a:xfrm>
            <a:off x="3267075" y="5162550"/>
            <a:ext cx="990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经验筛选</a:t>
            </a:r>
          </a:p>
        </p:txBody>
      </p:sp>
      <p:cxnSp>
        <p:nvCxnSpPr>
          <p:cNvPr id="1041" name="直接箭头连接符 1040"/>
          <p:cNvCxnSpPr/>
          <p:nvPr/>
        </p:nvCxnSpPr>
        <p:spPr>
          <a:xfrm>
            <a:off x="6953250" y="5457825"/>
            <a:ext cx="161925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sp>
        <p:nvSpPr>
          <p:cNvPr id="1042" name="矩形 1041"/>
          <p:cNvSpPr>
            <a:spLocks noGrp="1"/>
          </p:cNvSpPr>
          <p:nvPr/>
        </p:nvSpPr>
        <p:spPr>
          <a:xfrm>
            <a:off x="7239000" y="5162550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能力更新</a:t>
            </a:r>
          </a:p>
        </p:txBody>
      </p:sp>
      <p:cxnSp>
        <p:nvCxnSpPr>
          <p:cNvPr id="1043" name="直接箭头连接符 1042"/>
          <p:cNvCxnSpPr/>
          <p:nvPr/>
        </p:nvCxnSpPr>
        <p:spPr>
          <a:xfrm>
            <a:off x="10629900" y="3962400"/>
            <a:ext cx="0" cy="85725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44" name="直接箭头连接符 1043"/>
          <p:cNvCxnSpPr/>
          <p:nvPr/>
        </p:nvCxnSpPr>
        <p:spPr>
          <a:xfrm>
            <a:off x="5667375" y="4819650"/>
            <a:ext cx="4962525" cy="0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</a:ln>
        </p:spPr>
      </p:cxnSp>
      <p:cxnSp>
        <p:nvCxnSpPr>
          <p:cNvPr id="1045" name="直接箭头连接符 1044"/>
          <p:cNvCxnSpPr/>
          <p:nvPr/>
        </p:nvCxnSpPr>
        <p:spPr>
          <a:xfrm>
            <a:off x="5667375" y="4819650"/>
            <a:ext cx="0" cy="295275"/>
          </a:xfrm>
          <a:prstGeom prst="straightConnector1">
            <a:avLst/>
          </a:prstGeom>
          <a:ln w="24765">
            <a:solidFill>
              <a:srgbClr val="AF6A22"/>
            </a:solidFill>
            <a:prstDash val="solid"/>
            <a:tailEnd type="triangle" w="med" len="med"/>
          </a:ln>
        </p:spPr>
      </p:cxnSp>
      <p:sp>
        <p:nvSpPr>
          <p:cNvPr id="1046" name="矩形 1045"/>
          <p:cNvSpPr>
            <a:spLocks noGrp="1"/>
          </p:cNvSpPr>
          <p:nvPr/>
        </p:nvSpPr>
        <p:spPr>
          <a:xfrm>
            <a:off x="7562850" y="457200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AF6A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组织研发</a:t>
            </a:r>
          </a:p>
        </p:txBody>
      </p:sp>
      <p:cxnSp>
        <p:nvCxnSpPr>
          <p:cNvPr id="1047" name="直接箭头连接符 1046"/>
          <p:cNvCxnSpPr/>
          <p:nvPr/>
        </p:nvCxnSpPr>
        <p:spPr>
          <a:xfrm>
            <a:off x="11239500" y="5457825"/>
            <a:ext cx="53340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</a:ln>
        </p:spPr>
      </p:cxnSp>
      <p:cxnSp>
        <p:nvCxnSpPr>
          <p:cNvPr id="1048" name="直接箭头连接符 1047"/>
          <p:cNvCxnSpPr/>
          <p:nvPr/>
        </p:nvCxnSpPr>
        <p:spPr>
          <a:xfrm>
            <a:off x="11772900" y="2000250"/>
            <a:ext cx="0" cy="3457575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</a:ln>
        </p:spPr>
      </p:cxnSp>
      <p:cxnSp>
        <p:nvCxnSpPr>
          <p:cNvPr id="1049" name="直接箭头连接符 1048"/>
          <p:cNvCxnSpPr/>
          <p:nvPr/>
        </p:nvCxnSpPr>
        <p:spPr>
          <a:xfrm>
            <a:off x="1524000" y="2000250"/>
            <a:ext cx="10248900" cy="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</a:ln>
        </p:spPr>
      </p:cxnSp>
      <p:cxnSp>
        <p:nvCxnSpPr>
          <p:cNvPr id="1050" name="直接箭头连接符 1049"/>
          <p:cNvCxnSpPr/>
          <p:nvPr/>
        </p:nvCxnSpPr>
        <p:spPr>
          <a:xfrm>
            <a:off x="1524000" y="2000250"/>
            <a:ext cx="0" cy="781050"/>
          </a:xfrm>
          <a:prstGeom prst="straightConnector1">
            <a:avLst/>
          </a:prstGeom>
          <a:ln w="24765">
            <a:solidFill>
              <a:srgbClr val="008A90"/>
            </a:solidFill>
            <a:prstDash val="solid"/>
            <a:tailEnd type="triangle" w="med" len="med"/>
          </a:ln>
        </p:spPr>
      </p:cxnSp>
      <p:sp>
        <p:nvSpPr>
          <p:cNvPr id="1051" name="矩形 1050"/>
          <p:cNvSpPr>
            <a:spLocks noGrp="1"/>
          </p:cNvSpPr>
          <p:nvPr/>
        </p:nvSpPr>
        <p:spPr>
          <a:xfrm>
            <a:off x="8058150" y="1752600"/>
            <a:ext cx="34956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RSI 外环 · 回到真实任务验证</a:t>
            </a:r>
          </a:p>
        </p:txBody>
      </p:sp>
      <p:sp>
        <p:nvSpPr>
          <p:cNvPr id="1052" name="矩形 1051"/>
          <p:cNvSpPr>
            <a:spLocks noGrp="1"/>
          </p:cNvSpPr>
          <p:nvPr/>
        </p:nvSpPr>
        <p:spPr>
          <a:xfrm>
            <a:off x="609600" y="6124575"/>
            <a:ext cx="10972800" cy="352425"/>
          </a:xfrm>
          <a:prstGeom prst="rect">
            <a:avLst/>
          </a:prstGeom>
          <a:solidFill>
            <a:srgbClr val="EEF6FC"/>
          </a:solidFill>
          <a:ln w="0">
            <a:noFill/>
          </a:ln>
        </p:spPr>
      </p:sp>
      <p:sp>
        <p:nvSpPr>
          <p:cNvPr id="1053" name="矩形 1052"/>
          <p:cNvSpPr>
            <a:spLocks noGrp="1"/>
          </p:cNvSpPr>
          <p:nvPr/>
        </p:nvSpPr>
        <p:spPr>
          <a:xfrm>
            <a:off x="762000" y="6200775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开发基座</a:t>
            </a:r>
          </a:p>
        </p:txBody>
      </p:sp>
      <p:sp>
        <p:nvSpPr>
          <p:cNvPr id="1054" name="矩形 1053"/>
          <p:cNvSpPr>
            <a:spLocks noGrp="1"/>
          </p:cNvSpPr>
          <p:nvPr/>
        </p:nvSpPr>
        <p:spPr>
          <a:xfrm>
            <a:off x="2190750" y="6200775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Platform · </a:t>
            </a:r>
            <a:r>
              <a:rPr sz="1350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观察与动作</a:t>
            </a:r>
            <a:endParaRPr sz="1350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5" name="矩形 1054"/>
          <p:cNvSpPr>
            <a:spLocks noGrp="1"/>
          </p:cNvSpPr>
          <p:nvPr/>
        </p:nvSpPr>
        <p:spPr>
          <a:xfrm>
            <a:off x="5267325" y="6200775"/>
            <a:ext cx="2695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 · </a:t>
            </a:r>
            <a:r>
              <a:rPr sz="1350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模型与策略</a:t>
            </a:r>
            <a:endParaRPr sz="1350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6" name="矩形 1055"/>
          <p:cNvSpPr>
            <a:spLocks noGrp="1"/>
          </p:cNvSpPr>
          <p:nvPr/>
        </p:nvSpPr>
        <p:spPr>
          <a:xfrm>
            <a:off x="8258175" y="6200775"/>
            <a:ext cx="3105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Lab · </a:t>
            </a:r>
            <a:r>
              <a:rPr sz="1350" b="0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交互与数据</a:t>
            </a:r>
            <a:endParaRPr sz="1350" b="0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矩形 999"/>
          <p:cNvSpPr>
            <a:spLocks noGrp="1"/>
          </p:cNvSpPr>
          <p:nvPr/>
        </p:nvSpPr>
        <p:spPr>
          <a:xfrm>
            <a:off x="609600" y="409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功能与效果：实机时钟任务与阶段指标</a:t>
            </a:r>
          </a:p>
        </p:txBody>
      </p:sp>
      <p:sp>
        <p:nvSpPr>
          <p:cNvPr id="1001" name="矩形 1000"/>
          <p:cNvSpPr>
            <a:spLocks noGrp="1"/>
          </p:cNvSpPr>
          <p:nvPr/>
        </p:nvSpPr>
        <p:spPr>
          <a:xfrm>
            <a:off x="609600" y="1152525"/>
            <a:ext cx="109728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2" name="矩形 1001"/>
          <p:cNvSpPr>
            <a:spLocks noGrp="1"/>
          </p:cNvSpPr>
          <p:nvPr/>
        </p:nvSpPr>
        <p:spPr>
          <a:xfrm>
            <a:off x="11201400" y="6553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03" name="矩形 1002"/>
          <p:cNvSpPr>
            <a:spLocks noGrp="1"/>
          </p:cNvSpPr>
          <p:nvPr/>
        </p:nvSpPr>
        <p:spPr>
          <a:xfrm>
            <a:off x="609600" y="1600200"/>
            <a:ext cx="47625" cy="485775"/>
          </a:xfrm>
          <a:prstGeom prst="rect">
            <a:avLst/>
          </a:prstGeom>
          <a:solidFill>
            <a:srgbClr val="008A90"/>
          </a:solidFill>
          <a:ln w="0">
            <a:noFill/>
          </a:ln>
        </p:spPr>
      </p:sp>
      <p:sp>
        <p:nvSpPr>
          <p:cNvPr id="1004" name="矩形 1003"/>
          <p:cNvSpPr>
            <a:spLocks noGrp="1"/>
          </p:cNvSpPr>
          <p:nvPr/>
        </p:nvSpPr>
        <p:spPr>
          <a:xfrm>
            <a:off x="800100" y="1543050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 GUI 操作</a:t>
            </a:r>
          </a:p>
        </p:txBody>
      </p:sp>
      <p:sp>
        <p:nvSpPr>
          <p:cNvPr id="1005" name="矩形 1004"/>
          <p:cNvSpPr>
            <a:spLocks noGrp="1"/>
          </p:cNvSpPr>
          <p:nvPr/>
        </p:nvSpPr>
        <p:spPr>
          <a:xfrm>
            <a:off x="800100" y="1895475"/>
            <a:ext cx="66865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 + UI 理解，定位、点击 / 滑动 / 输入</a:t>
            </a:r>
          </a:p>
        </p:txBody>
      </p:sp>
      <p:sp>
        <p:nvSpPr>
          <p:cNvPr id="1006" name="矩形 1005"/>
          <p:cNvSpPr>
            <a:spLocks noGrp="1"/>
          </p:cNvSpPr>
          <p:nvPr/>
        </p:nvSpPr>
        <p:spPr>
          <a:xfrm>
            <a:off x="609600" y="2333625"/>
            <a:ext cx="47625" cy="485775"/>
          </a:xfrm>
          <a:prstGeom prst="rect">
            <a:avLst/>
          </a:prstGeom>
          <a:solidFill>
            <a:srgbClr val="1765AD"/>
          </a:solidFill>
          <a:ln w="0">
            <a:noFill/>
          </a:ln>
        </p:spPr>
      </p:sp>
      <p:sp>
        <p:nvSpPr>
          <p:cNvPr id="1007" name="矩形 1006"/>
          <p:cNvSpPr>
            <a:spLocks noGrp="1"/>
          </p:cNvSpPr>
          <p:nvPr/>
        </p:nvSpPr>
        <p:spPr>
          <a:xfrm>
            <a:off x="800100" y="2276475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长任务与持续上下文</a:t>
            </a:r>
          </a:p>
        </p:txBody>
      </p:sp>
      <p:sp>
        <p:nvSpPr>
          <p:cNvPr id="1008" name="矩形 1007"/>
          <p:cNvSpPr>
            <a:spLocks noGrp="1"/>
          </p:cNvSpPr>
          <p:nvPr/>
        </p:nvSpPr>
        <p:spPr>
          <a:xfrm>
            <a:off x="800100" y="2628900"/>
            <a:ext cx="66865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/ 历史 / 工作空间，进度回读与异常恢复</a:t>
            </a:r>
          </a:p>
        </p:txBody>
      </p:sp>
      <p:sp>
        <p:nvSpPr>
          <p:cNvPr id="1009" name="矩形 1008"/>
          <p:cNvSpPr>
            <a:spLocks noGrp="1"/>
          </p:cNvSpPr>
          <p:nvPr/>
        </p:nvSpPr>
        <p:spPr>
          <a:xfrm>
            <a:off x="609600" y="3067050"/>
            <a:ext cx="47625" cy="485775"/>
          </a:xfrm>
          <a:prstGeom prst="rect">
            <a:avLst/>
          </a:prstGeom>
          <a:solidFill>
            <a:srgbClr val="008A90"/>
          </a:solidFill>
          <a:ln w="0">
            <a:noFill/>
          </a:ln>
        </p:spPr>
      </p:sp>
      <p:sp>
        <p:nvSpPr>
          <p:cNvPr id="1010" name="矩形 1009"/>
          <p:cNvSpPr>
            <a:spLocks noGrp="1"/>
          </p:cNvSpPr>
          <p:nvPr/>
        </p:nvSpPr>
        <p:spPr>
          <a:xfrm>
            <a:off x="800100" y="3009900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高效决策与分层协作</a:t>
            </a:r>
          </a:p>
        </p:txBody>
      </p:sp>
      <p:sp>
        <p:nvSpPr>
          <p:cNvPr id="1011" name="矩形 1010"/>
          <p:cNvSpPr>
            <a:spLocks noGrp="1"/>
          </p:cNvSpPr>
          <p:nvPr/>
        </p:nvSpPr>
        <p:spPr>
          <a:xfrm>
            <a:off x="800100" y="3362325"/>
            <a:ext cx="66865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快慢决策；Teacher 纠错、Worker 改工具</a:t>
            </a:r>
          </a:p>
        </p:txBody>
      </p:sp>
      <p:sp>
        <p:nvSpPr>
          <p:cNvPr id="1012" name="矩形 1011"/>
          <p:cNvSpPr>
            <a:spLocks noGrp="1"/>
          </p:cNvSpPr>
          <p:nvPr/>
        </p:nvSpPr>
        <p:spPr>
          <a:xfrm>
            <a:off x="609600" y="3800475"/>
            <a:ext cx="47625" cy="485775"/>
          </a:xfrm>
          <a:prstGeom prst="rect">
            <a:avLst/>
          </a:prstGeom>
          <a:solidFill>
            <a:srgbClr val="1765AD"/>
          </a:solidFill>
          <a:ln w="0">
            <a:noFill/>
          </a:ln>
        </p:spPr>
      </p:sp>
      <p:sp>
        <p:nvSpPr>
          <p:cNvPr id="1013" name="矩形 1012"/>
          <p:cNvSpPr>
            <a:spLocks noGrp="1"/>
          </p:cNvSpPr>
          <p:nvPr/>
        </p:nvSpPr>
        <p:spPr>
          <a:xfrm>
            <a:off x="800100" y="3743325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交互数据与持续演化</a:t>
            </a:r>
          </a:p>
        </p:txBody>
      </p:sp>
      <p:sp>
        <p:nvSpPr>
          <p:cNvPr id="1014" name="矩形 1013"/>
          <p:cNvSpPr>
            <a:spLocks noGrp="1"/>
          </p:cNvSpPr>
          <p:nvPr/>
        </p:nvSpPr>
        <p:spPr>
          <a:xfrm>
            <a:off x="800100" y="4095750"/>
            <a:ext cx="66865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轨迹采集、监督筛选，支撑后训练与 RSI</a:t>
            </a:r>
          </a:p>
        </p:txBody>
      </p:sp>
      <p:sp>
        <p:nvSpPr>
          <p:cNvPr id="1015" name="矩形 1014"/>
          <p:cNvSpPr>
            <a:spLocks noGrp="1"/>
          </p:cNvSpPr>
          <p:nvPr/>
        </p:nvSpPr>
        <p:spPr>
          <a:xfrm>
            <a:off x="609600" y="4610100"/>
            <a:ext cx="67437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16" name="矩形 1015"/>
          <p:cNvSpPr>
            <a:spLocks noGrp="1"/>
          </p:cNvSpPr>
          <p:nvPr/>
        </p:nvSpPr>
        <p:spPr>
          <a:xfrm>
            <a:off x="609600" y="4791075"/>
            <a:ext cx="67437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阶段性测试指标</a:t>
            </a:r>
          </a:p>
        </p:txBody>
      </p:sp>
      <p:sp>
        <p:nvSpPr>
          <p:cNvPr id="1017" name="矩形 1016"/>
          <p:cNvSpPr>
            <a:spLocks noGrp="1"/>
          </p:cNvSpPr>
          <p:nvPr/>
        </p:nvSpPr>
        <p:spPr>
          <a:xfrm>
            <a:off x="900128" y="5672137"/>
            <a:ext cx="22193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dirty="0"/>
              <a:t>完成 </a:t>
            </a:r>
            <a:r>
              <a:rPr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≈682 </a:t>
            </a:r>
            <a:r>
              <a:rPr sz="2000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2000" b="1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8" name="矩形 1017"/>
          <p:cNvSpPr>
            <a:spLocks noGrp="1"/>
          </p:cNvSpPr>
          <p:nvPr/>
        </p:nvSpPr>
        <p:spPr>
          <a:xfrm>
            <a:off x="900129" y="5293281"/>
            <a:ext cx="22193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决策延迟</a:t>
            </a:r>
            <a:r>
              <a:rPr lang="en-US" sz="1350" b="0" dirty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350" b="0" dirty="0">
              <a:solidFill>
                <a:srgbClr val="50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1" name="矩形 1020"/>
          <p:cNvSpPr>
            <a:spLocks noGrp="1"/>
          </p:cNvSpPr>
          <p:nvPr/>
        </p:nvSpPr>
        <p:spPr>
          <a:xfrm>
            <a:off x="4525684" y="6038850"/>
            <a:ext cx="22193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&lt;180 tokens</a:t>
            </a:r>
          </a:p>
        </p:txBody>
      </p:sp>
      <p:sp>
        <p:nvSpPr>
          <p:cNvPr id="1022" name="矩形 1021"/>
          <p:cNvSpPr>
            <a:spLocks noGrp="1"/>
          </p:cNvSpPr>
          <p:nvPr/>
        </p:nvSpPr>
        <p:spPr>
          <a:xfrm>
            <a:off x="4525685" y="5248498"/>
            <a:ext cx="22193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单步决策输出</a:t>
            </a:r>
            <a:endParaRPr sz="1350" b="0" dirty="0">
              <a:solidFill>
                <a:srgbClr val="50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demo-concise-metrics-no-timing-note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62900" y="1438275"/>
            <a:ext cx="3419348" cy="48387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47F75A-88E5-5C87-980D-F92E1BBD6C08}"/>
              </a:ext>
            </a:extLst>
          </p:cNvPr>
          <p:cNvSpPr txBox="1"/>
          <p:nvPr/>
        </p:nvSpPr>
        <p:spPr>
          <a:xfrm>
            <a:off x="800100" y="5985060"/>
            <a:ext cx="1585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目标</a:t>
            </a:r>
            <a:r>
              <a:rPr lang="en-US" altLang="zh-CN" sz="2000" dirty="0"/>
              <a:t>&lt;800ms</a:t>
            </a:r>
            <a:endParaRPr lang="zh-CN" altLang="en-US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4FB6A0-C60C-575F-8F90-30AF31A12527}"/>
              </a:ext>
            </a:extLst>
          </p:cNvPr>
          <p:cNvSpPr>
            <a:spLocks noGrp="1"/>
          </p:cNvSpPr>
          <p:nvPr/>
        </p:nvSpPr>
        <p:spPr>
          <a:xfrm>
            <a:off x="4431514" y="5624512"/>
            <a:ext cx="2656619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 </a:t>
            </a:r>
            <a:r>
              <a:rPr lang="en-US"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 </a:t>
            </a:r>
            <a:r>
              <a:rPr sz="2000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8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矩形 999"/>
          <p:cNvSpPr>
            <a:spLocks noGrp="1"/>
          </p:cNvSpPr>
          <p:nvPr/>
        </p:nvSpPr>
        <p:spPr>
          <a:xfrm>
            <a:off x="609600" y="409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需求与后续工作：面向真实场景完善与验证</a:t>
            </a:r>
          </a:p>
        </p:txBody>
      </p:sp>
      <p:sp>
        <p:nvSpPr>
          <p:cNvPr id="1001" name="矩形 1000"/>
          <p:cNvSpPr>
            <a:spLocks noGrp="1"/>
          </p:cNvSpPr>
          <p:nvPr/>
        </p:nvSpPr>
        <p:spPr>
          <a:xfrm>
            <a:off x="609600" y="1152525"/>
            <a:ext cx="10972800" cy="190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2" name="矩形 1001"/>
          <p:cNvSpPr>
            <a:spLocks noGrp="1"/>
          </p:cNvSpPr>
          <p:nvPr/>
        </p:nvSpPr>
        <p:spPr>
          <a:xfrm>
            <a:off x="11201400" y="65532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1003" name="矩形 1002"/>
          <p:cNvSpPr>
            <a:spLocks noGrp="1"/>
          </p:cNvSpPr>
          <p:nvPr/>
        </p:nvSpPr>
        <p:spPr>
          <a:xfrm>
            <a:off x="609600" y="14859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后续推进安排</a:t>
            </a:r>
          </a:p>
        </p:txBody>
      </p:sp>
      <p:sp>
        <p:nvSpPr>
          <p:cNvPr id="1004" name="矩形 1003"/>
          <p:cNvSpPr>
            <a:spLocks noGrp="1"/>
          </p:cNvSpPr>
          <p:nvPr/>
        </p:nvSpPr>
        <p:spPr>
          <a:xfrm>
            <a:off x="6324600" y="1485900"/>
            <a:ext cx="5257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37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需要的合作支持</a:t>
            </a:r>
          </a:p>
        </p:txBody>
      </p:sp>
      <p:sp>
        <p:nvSpPr>
          <p:cNvPr id="1005" name="矩形 1004"/>
          <p:cNvSpPr>
            <a:spLocks noGrp="1"/>
          </p:cNvSpPr>
          <p:nvPr/>
        </p:nvSpPr>
        <p:spPr>
          <a:xfrm>
            <a:off x="5924549" y="1514475"/>
            <a:ext cx="45719" cy="2838450"/>
          </a:xfrm>
          <a:prstGeom prst="rect">
            <a:avLst/>
          </a:prstGeom>
          <a:solidFill>
            <a:srgbClr val="CBDFED"/>
          </a:solidFill>
          <a:ln w="0">
            <a:noFill/>
          </a:ln>
        </p:spPr>
      </p:sp>
      <p:sp>
        <p:nvSpPr>
          <p:cNvPr id="1006" name="矩形 1005"/>
          <p:cNvSpPr>
            <a:spLocks noGrp="1"/>
          </p:cNvSpPr>
          <p:nvPr/>
        </p:nvSpPr>
        <p:spPr>
          <a:xfrm>
            <a:off x="609600" y="21145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07" name="矩形 1006"/>
          <p:cNvSpPr>
            <a:spLocks noGrp="1"/>
          </p:cNvSpPr>
          <p:nvPr/>
        </p:nvSpPr>
        <p:spPr>
          <a:xfrm>
            <a:off x="1123950" y="211455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平台与原型整合</a:t>
            </a:r>
          </a:p>
        </p:txBody>
      </p:sp>
      <p:sp>
        <p:nvSpPr>
          <p:cNvPr id="1008" name="矩形 1007"/>
          <p:cNvSpPr>
            <a:spLocks noGrp="1"/>
          </p:cNvSpPr>
          <p:nvPr/>
        </p:nvSpPr>
        <p:spPr>
          <a:xfrm>
            <a:off x="1123950" y="2514600"/>
            <a:ext cx="4476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统一三库入口、设备接口、上下文与工作空间</a:t>
            </a:r>
          </a:p>
        </p:txBody>
      </p:sp>
      <p:sp>
        <p:nvSpPr>
          <p:cNvPr id="1009" name="矩形 1008"/>
          <p:cNvSpPr>
            <a:spLocks noGrp="1"/>
          </p:cNvSpPr>
          <p:nvPr/>
        </p:nvSpPr>
        <p:spPr>
          <a:xfrm>
            <a:off x="609600" y="312420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10" name="矩形 1009"/>
          <p:cNvSpPr>
            <a:spLocks noGrp="1"/>
          </p:cNvSpPr>
          <p:nvPr/>
        </p:nvSpPr>
        <p:spPr>
          <a:xfrm>
            <a:off x="1123950" y="31242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效率与协作评测</a:t>
            </a:r>
          </a:p>
        </p:txBody>
      </p:sp>
      <p:sp>
        <p:nvSpPr>
          <p:cNvPr id="1011" name="矩形 1010"/>
          <p:cNvSpPr>
            <a:spLocks noGrp="1"/>
          </p:cNvSpPr>
          <p:nvPr/>
        </p:nvSpPr>
        <p:spPr>
          <a:xfrm>
            <a:off x="1123950" y="3524250"/>
            <a:ext cx="4476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 Jev 快慢收益及 Teacher / Worker 协助效果</a:t>
            </a:r>
          </a:p>
        </p:txBody>
      </p:sp>
      <p:sp>
        <p:nvSpPr>
          <p:cNvPr id="1012" name="矩形 1011"/>
          <p:cNvSpPr>
            <a:spLocks noGrp="1"/>
          </p:cNvSpPr>
          <p:nvPr/>
        </p:nvSpPr>
        <p:spPr>
          <a:xfrm>
            <a:off x="609600" y="41338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13" name="矩形 1012"/>
          <p:cNvSpPr>
            <a:spLocks noGrp="1"/>
          </p:cNvSpPr>
          <p:nvPr/>
        </p:nvSpPr>
        <p:spPr>
          <a:xfrm>
            <a:off x="1123950" y="413385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完整任务与可靠性</a:t>
            </a:r>
          </a:p>
        </p:txBody>
      </p:sp>
      <p:sp>
        <p:nvSpPr>
          <p:cNvPr id="1014" name="矩形 1013"/>
          <p:cNvSpPr>
            <a:spLocks noGrp="1"/>
          </p:cNvSpPr>
          <p:nvPr/>
        </p:nvSpPr>
        <p:spPr>
          <a:xfrm>
            <a:off x="1123950" y="4533900"/>
            <a:ext cx="4476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App 长任务、异常恢复、意图澄清与风险接管</a:t>
            </a:r>
          </a:p>
        </p:txBody>
      </p:sp>
      <p:sp>
        <p:nvSpPr>
          <p:cNvPr id="1015" name="矩形 1014"/>
          <p:cNvSpPr>
            <a:spLocks noGrp="1"/>
          </p:cNvSpPr>
          <p:nvPr/>
        </p:nvSpPr>
        <p:spPr>
          <a:xfrm>
            <a:off x="609600" y="514350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16" name="矩形 1015"/>
          <p:cNvSpPr>
            <a:spLocks noGrp="1"/>
          </p:cNvSpPr>
          <p:nvPr/>
        </p:nvSpPr>
        <p:spPr>
          <a:xfrm>
            <a:off x="1123950" y="51435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数据生产与</a:t>
            </a:r>
            <a:r>
              <a:rPr sz="1875" b="1" dirty="0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RSI </a:t>
            </a:r>
            <a:r>
              <a:rPr sz="1875" b="1" dirty="0" err="1">
                <a:solidFill>
                  <a:srgbClr val="17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endParaRPr sz="1875" b="1" dirty="0">
              <a:solidFill>
                <a:srgbClr val="17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7" name="矩形 1016"/>
          <p:cNvSpPr>
            <a:spLocks noGrp="1"/>
          </p:cNvSpPr>
          <p:nvPr/>
        </p:nvSpPr>
        <p:spPr>
          <a:xfrm>
            <a:off x="1123950" y="5543550"/>
            <a:ext cx="4476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积累与筛选经验，改工具、按需训练并复测</a:t>
            </a:r>
          </a:p>
        </p:txBody>
      </p:sp>
      <p:sp>
        <p:nvSpPr>
          <p:cNvPr id="1018" name="矩形 1017"/>
          <p:cNvSpPr>
            <a:spLocks noGrp="1"/>
          </p:cNvSpPr>
          <p:nvPr/>
        </p:nvSpPr>
        <p:spPr>
          <a:xfrm>
            <a:off x="6324600" y="2057400"/>
            <a:ext cx="485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19" name="矩形 1018"/>
          <p:cNvSpPr>
            <a:spLocks noGrp="1"/>
          </p:cNvSpPr>
          <p:nvPr/>
        </p:nvSpPr>
        <p:spPr>
          <a:xfrm>
            <a:off x="6953250" y="2057400"/>
            <a:ext cx="4629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场景与判据</a:t>
            </a:r>
          </a:p>
        </p:txBody>
      </p:sp>
      <p:sp>
        <p:nvSpPr>
          <p:cNvPr id="1020" name="矩形 1019"/>
          <p:cNvSpPr>
            <a:spLocks noGrp="1"/>
          </p:cNvSpPr>
          <p:nvPr/>
        </p:nvSpPr>
        <p:spPr>
          <a:xfrm>
            <a:off x="6953250" y="2409825"/>
            <a:ext cx="4629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典型长任务、指定 / 泛化场景、完成状态定义</a:t>
            </a:r>
          </a:p>
        </p:txBody>
      </p:sp>
      <p:sp>
        <p:nvSpPr>
          <p:cNvPr id="1021" name="矩形 1020"/>
          <p:cNvSpPr>
            <a:spLocks noGrp="1"/>
          </p:cNvSpPr>
          <p:nvPr/>
        </p:nvSpPr>
        <p:spPr>
          <a:xfrm>
            <a:off x="6324600" y="2838450"/>
            <a:ext cx="485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22" name="矩形 1021"/>
          <p:cNvSpPr>
            <a:spLocks noGrp="1"/>
          </p:cNvSpPr>
          <p:nvPr/>
        </p:nvSpPr>
        <p:spPr>
          <a:xfrm>
            <a:off x="6953250" y="2838450"/>
            <a:ext cx="4629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环境与接口</a:t>
            </a:r>
            <a:endParaRPr sz="1875" b="1" dirty="0">
              <a:solidFill>
                <a:srgbClr val="193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3" name="矩形 1022"/>
          <p:cNvSpPr>
            <a:spLocks noGrp="1"/>
          </p:cNvSpPr>
          <p:nvPr/>
        </p:nvSpPr>
        <p:spPr>
          <a:xfrm>
            <a:off x="6953250" y="3190875"/>
            <a:ext cx="4629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云手机 / 物理机、观测与动作接口、权限条件</a:t>
            </a:r>
          </a:p>
        </p:txBody>
      </p:sp>
      <p:sp>
        <p:nvSpPr>
          <p:cNvPr id="1024" name="矩形 1023"/>
          <p:cNvSpPr>
            <a:spLocks noGrp="1"/>
          </p:cNvSpPr>
          <p:nvPr/>
        </p:nvSpPr>
        <p:spPr>
          <a:xfrm>
            <a:off x="6324600" y="3619500"/>
            <a:ext cx="485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8A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25" name="矩形 1024"/>
          <p:cNvSpPr>
            <a:spLocks noGrp="1"/>
          </p:cNvSpPr>
          <p:nvPr/>
        </p:nvSpPr>
        <p:spPr>
          <a:xfrm>
            <a:off x="6953250" y="3619500"/>
            <a:ext cx="118866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193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</a:t>
            </a:r>
            <a:endParaRPr sz="1875" b="1" dirty="0">
              <a:solidFill>
                <a:srgbClr val="193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6" name="矩形 1025"/>
          <p:cNvSpPr>
            <a:spLocks noGrp="1"/>
          </p:cNvSpPr>
          <p:nvPr/>
        </p:nvSpPr>
        <p:spPr>
          <a:xfrm>
            <a:off x="6953250" y="3971925"/>
            <a:ext cx="4629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0">
                <a:solidFill>
                  <a:srgbClr val="50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可脱敏的任务样例、操作轨迹和失败案例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094" y="4334059"/>
            <a:ext cx="5764306" cy="2076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705</Words>
  <Application>Microsoft Office PowerPoint</Application>
  <PresentationFormat>Widescreen</PresentationFormat>
  <Paragraphs>108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宋体</vt:lpstr>
      <vt:lpstr>微软雅黑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py 陈</cp:lastModifiedBy>
  <cp:revision>31</cp:revision>
  <dcterms:created xsi:type="dcterms:W3CDTF">2026-10-21T10:38:00Z</dcterms:created>
  <dcterms:modified xsi:type="dcterms:W3CDTF">2026-10-28T15:33:12Z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1499770C83684873A7619C3AA593BA6D_13</vt:lpwstr>
  </property>
  <property fmtid="{D5CDD505-2E9C-101B-9397-08002B2CF9AE}" pid="3" name="KSOProductBuildVer">
    <vt:lpwstr>2052-12.1.0.29161</vt:lpwstr>
  </property>
</Properties>
</file>